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1" r:id="rId4"/>
    <p:sldId id="268" r:id="rId5"/>
    <p:sldId id="269" r:id="rId6"/>
    <p:sldId id="262" r:id="rId7"/>
    <p:sldId id="264" r:id="rId8"/>
    <p:sldId id="267" r:id="rId9"/>
    <p:sldId id="265" r:id="rId10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D5380-A826-763F-C6EB-762805653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B9854F-6805-0D72-17F6-D37D28047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D5DA3-81DB-3325-9BC6-A20FC08A6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7380A-1819-462E-96FD-3D6CBD777CA0}" type="datetimeFigureOut">
              <a:rPr lang="en-IL" smtClean="0"/>
              <a:t>16/08/2025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B3293-7825-69F6-E3D5-3DDF11AC4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16891-DE71-0482-CD04-B0EFF9408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BBB84-0438-4F2B-99E9-C9A129AACED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1512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972AD-82AD-4813-CDB5-98B6B818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2AC7-5581-038C-A027-A39BBD1EC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B0F72-5F49-819F-0063-843EF9E3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7380A-1819-462E-96FD-3D6CBD777CA0}" type="datetimeFigureOut">
              <a:rPr lang="en-IL" smtClean="0"/>
              <a:t>16/08/2025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AD797-A008-30E4-1434-9A8FC54C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00AC5-FD0F-CA69-6098-A476DAF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BBB84-0438-4F2B-99E9-C9A129AACED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13012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40FA4-A613-5D92-32E6-1B5659B68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C576F-E7D7-0A20-2199-41196461C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FD80F-AFC5-FB7B-A51A-28191C9CB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7380A-1819-462E-96FD-3D6CBD777CA0}" type="datetimeFigureOut">
              <a:rPr lang="en-IL" smtClean="0"/>
              <a:t>16/08/2025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99E17-78DA-BB8C-396F-A0DEF9A51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95CFF-C7D4-3E86-3FE8-DB00CCC0C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BBB84-0438-4F2B-99E9-C9A129AACED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69654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2F919-955C-C2AD-D8C5-118FFDC46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31312-84A5-DED3-11D8-B4AAA90BA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A537C-AD8F-6A9D-D97C-273B2E6D7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D0E05-E46F-FBE4-EAE2-FD2E387C3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7380A-1819-462E-96FD-3D6CBD777CA0}" type="datetimeFigureOut">
              <a:rPr lang="en-IL" smtClean="0"/>
              <a:t>16/08/2025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A982A-0103-E1EE-AB29-DBD6B984A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7F657-D2D7-10D6-9953-444551156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BBB84-0438-4F2B-99E9-C9A129AACED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24352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79941-54C7-44C2-9410-A0C3636D5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FBA4-A7F7-66CA-BD15-D99247B5C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4A6F0-EE78-77DC-DF29-369AB737F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CC12E-44E8-1668-DD80-9CA8C1E422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89F5C0-E4E0-EB4F-8D65-3F213D3A5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3F37C1-F3B3-E148-324F-3C2236F73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7380A-1819-462E-96FD-3D6CBD777CA0}" type="datetimeFigureOut">
              <a:rPr lang="en-IL" smtClean="0"/>
              <a:t>16/08/2025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D45F65-86E8-28D1-A88E-75329CCD5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9F728D-2F1E-50BE-E874-5794F3FBD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BBB84-0438-4F2B-99E9-C9A129AACED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13126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C228D-72A6-AE96-D012-CE3A508B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42481-12B7-1469-2133-D79CA7D9B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7380A-1819-462E-96FD-3D6CBD777CA0}" type="datetimeFigureOut">
              <a:rPr lang="en-IL" smtClean="0"/>
              <a:t>16/08/2025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00EA0B-8DAB-B1CC-F11C-179F76CB9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CFC183-4892-FB68-8B76-AB303860E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BBB84-0438-4F2B-99E9-C9A129AACED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7471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98D832-925E-F66C-7FA2-0E5F9786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7380A-1819-462E-96FD-3D6CBD777CA0}" type="datetimeFigureOut">
              <a:rPr lang="en-IL" smtClean="0"/>
              <a:t>16/08/2025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78C32-6596-69FE-A6E1-BFF8E1B34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CA1FE-C545-B3A8-848A-928CD211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BBB84-0438-4F2B-99E9-C9A129AACED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37511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2F435-12B5-BC82-1A95-B34F0D39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3F4AB-9B18-4EAD-4453-202AA7194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0B63F5-B4E9-2773-7C3D-DC1BC7446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A22D1-3269-F84B-49B9-B0AA6300A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7380A-1819-462E-96FD-3D6CBD777CA0}" type="datetimeFigureOut">
              <a:rPr lang="en-IL" smtClean="0"/>
              <a:t>16/08/2025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E1ED6-477F-233C-9197-47AC3ED2D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49354-B28B-E94B-A4D7-FA0ECB2C1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BBB84-0438-4F2B-99E9-C9A129AACED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1900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A34FC-ACDC-CC02-A601-552637EE7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57CE41-A3EE-87AA-8AA1-41C2F971EC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3C2C7A-1F47-E8A4-ED0E-CC4606443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D268F-C911-7B28-6C6D-89B692A04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7380A-1819-462E-96FD-3D6CBD777CA0}" type="datetimeFigureOut">
              <a:rPr lang="en-IL" smtClean="0"/>
              <a:t>16/08/2025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E28D0-8CC4-85C7-73E3-0B36A9FE4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4E266-DC7C-FA04-F67A-FCBEC10A5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BBB84-0438-4F2B-99E9-C9A129AACED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4123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89FC1-FAB7-D36B-999C-A676899D7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0D993F-0F27-8AAA-4C1A-1DDF2430A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95824-E7D1-F143-E413-CE5EA4A35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7380A-1819-462E-96FD-3D6CBD777CA0}" type="datetimeFigureOut">
              <a:rPr lang="en-IL" smtClean="0"/>
              <a:t>16/08/2025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1B937-821D-7E11-66DE-D32D839C8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4E922-6EDB-C2ED-685B-4B0E5229D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BBB84-0438-4F2B-99E9-C9A129AACED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78266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3A09BC-339D-5A0D-34E1-E16E68C185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BA4ACA-CE0D-87CC-27B4-6E082EA6D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62C94-667E-D845-6160-5B153AAE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7380A-1819-462E-96FD-3D6CBD777CA0}" type="datetimeFigureOut">
              <a:rPr lang="en-IL" smtClean="0"/>
              <a:t>16/08/2025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2B653-8840-9F41-E250-3FFDA261F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8257D-CE46-B2B2-E0A6-EC0F6430C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BBB84-0438-4F2B-99E9-C9A129AACED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68068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ED05EC-CE29-2C78-39CB-3A6C3798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32E61-D29C-4477-287B-63147CFE8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56526-F1D9-52CA-DA78-5A980E6DE0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7380A-1819-462E-96FD-3D6CBD777CA0}" type="datetimeFigureOut">
              <a:rPr lang="en-IL" smtClean="0"/>
              <a:t>16/08/2025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CD1E-68ED-C08C-4A61-D38A4F17A0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61513-F1E4-2117-CA8D-2542F8E41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BBB84-0438-4F2B-99E9-C9A129AACED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59661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9048F-5567-1791-A40E-708D2476DC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A2C Architecture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16DDBF-6220-C476-A909-A52355855E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16616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52B14A8-E77A-0CF7-A363-106016FE04C7}"/>
              </a:ext>
            </a:extLst>
          </p:cNvPr>
          <p:cNvSpPr/>
          <p:nvPr/>
        </p:nvSpPr>
        <p:spPr>
          <a:xfrm>
            <a:off x="2205282" y="1273570"/>
            <a:ext cx="1035594" cy="4308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User</a:t>
            </a:r>
            <a:endParaRPr lang="en-IL" sz="10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8B64539-CE6A-F48F-BF32-320B9A684D4D}"/>
              </a:ext>
            </a:extLst>
          </p:cNvPr>
          <p:cNvSpPr/>
          <p:nvPr/>
        </p:nvSpPr>
        <p:spPr>
          <a:xfrm>
            <a:off x="4053418" y="1273570"/>
            <a:ext cx="1035594" cy="4308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Client</a:t>
            </a:r>
          </a:p>
          <a:p>
            <a:pPr algn="ctr"/>
            <a:r>
              <a:rPr lang="en-US" sz="1100" dirty="0"/>
              <a:t>&lt;&lt;Browser&gt;&gt;</a:t>
            </a:r>
            <a:endParaRPr lang="en-IL" sz="11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C55A37C-8FE7-FE12-9B5F-84521830C50E}"/>
              </a:ext>
            </a:extLst>
          </p:cNvPr>
          <p:cNvSpPr/>
          <p:nvPr/>
        </p:nvSpPr>
        <p:spPr>
          <a:xfrm>
            <a:off x="6229288" y="1273571"/>
            <a:ext cx="1021028" cy="4308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Server</a:t>
            </a:r>
            <a:endParaRPr lang="en-IL" sz="10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892F2D-CF1A-BDC3-6907-43B2A1B1686A}"/>
              </a:ext>
            </a:extLst>
          </p:cNvPr>
          <p:cNvSpPr/>
          <p:nvPr/>
        </p:nvSpPr>
        <p:spPr>
          <a:xfrm>
            <a:off x="8141674" y="1273571"/>
            <a:ext cx="1021028" cy="4308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Database</a:t>
            </a:r>
            <a:endParaRPr lang="en-IL" sz="1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A1C1600-6D06-E1CA-0CA4-07CD933BF014}"/>
              </a:ext>
            </a:extLst>
          </p:cNvPr>
          <p:cNvSpPr/>
          <p:nvPr/>
        </p:nvSpPr>
        <p:spPr>
          <a:xfrm>
            <a:off x="2869125" y="1902688"/>
            <a:ext cx="1526262" cy="19780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Enter email &amp; password</a:t>
            </a:r>
            <a:endParaRPr lang="en-IL" sz="10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857B47E-A5A3-96A6-E499-ACB4760CAB18}"/>
              </a:ext>
            </a:extLst>
          </p:cNvPr>
          <p:cNvCxnSpPr>
            <a:cxnSpLocks/>
          </p:cNvCxnSpPr>
          <p:nvPr/>
        </p:nvCxnSpPr>
        <p:spPr>
          <a:xfrm>
            <a:off x="2713329" y="2095468"/>
            <a:ext cx="18378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32A34F3-56DF-D2B3-752F-11A85F8F124B}"/>
              </a:ext>
            </a:extLst>
          </p:cNvPr>
          <p:cNvSpPr/>
          <p:nvPr/>
        </p:nvSpPr>
        <p:spPr>
          <a:xfrm>
            <a:off x="4534856" y="1745350"/>
            <a:ext cx="45719" cy="35615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861D3A-761D-98E3-4774-A2693D523881}"/>
              </a:ext>
            </a:extLst>
          </p:cNvPr>
          <p:cNvCxnSpPr>
            <a:cxnSpLocks/>
            <a:stCxn id="2" idx="2"/>
          </p:cNvCxnSpPr>
          <p:nvPr/>
        </p:nvCxnSpPr>
        <p:spPr>
          <a:xfrm flipH="1">
            <a:off x="2713329" y="1704373"/>
            <a:ext cx="9750" cy="360653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A8EE5C9-3D41-92DE-B565-A0DA78877F9B}"/>
              </a:ext>
            </a:extLst>
          </p:cNvPr>
          <p:cNvSpPr/>
          <p:nvPr/>
        </p:nvSpPr>
        <p:spPr>
          <a:xfrm>
            <a:off x="6724860" y="1745350"/>
            <a:ext cx="45719" cy="35615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EA9289A-8C23-2B52-87B8-3256D09322E1}"/>
              </a:ext>
            </a:extLst>
          </p:cNvPr>
          <p:cNvSpPr/>
          <p:nvPr/>
        </p:nvSpPr>
        <p:spPr>
          <a:xfrm>
            <a:off x="4767197" y="2202866"/>
            <a:ext cx="1526262" cy="19780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POST / Login (JSON)</a:t>
            </a:r>
            <a:endParaRPr lang="en-IL" sz="1000" dirty="0">
              <a:solidFill>
                <a:schemeClr val="tx1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93DBE18-33C5-9E80-2213-2430D42A1570}"/>
              </a:ext>
            </a:extLst>
          </p:cNvPr>
          <p:cNvCxnSpPr>
            <a:cxnSpLocks/>
          </p:cNvCxnSpPr>
          <p:nvPr/>
        </p:nvCxnSpPr>
        <p:spPr>
          <a:xfrm>
            <a:off x="4602165" y="2395646"/>
            <a:ext cx="21226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8A7E9FDD-96C6-F894-ABA3-85DD817AD64E}"/>
              </a:ext>
            </a:extLst>
          </p:cNvPr>
          <p:cNvSpPr/>
          <p:nvPr/>
        </p:nvSpPr>
        <p:spPr>
          <a:xfrm>
            <a:off x="8626192" y="1745350"/>
            <a:ext cx="45719" cy="35615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090B249-015C-6A9D-EF23-99567AAEFA65}"/>
              </a:ext>
            </a:extLst>
          </p:cNvPr>
          <p:cNvCxnSpPr>
            <a:cxnSpLocks/>
          </p:cNvCxnSpPr>
          <p:nvPr/>
        </p:nvCxnSpPr>
        <p:spPr>
          <a:xfrm>
            <a:off x="6795798" y="2695827"/>
            <a:ext cx="18378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D835078-C732-7C5A-E3CA-954A9C698AF8}"/>
              </a:ext>
            </a:extLst>
          </p:cNvPr>
          <p:cNvSpPr/>
          <p:nvPr/>
        </p:nvSpPr>
        <p:spPr>
          <a:xfrm>
            <a:off x="6840757" y="2493808"/>
            <a:ext cx="1760215" cy="16103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Validate (Email, Password)</a:t>
            </a:r>
            <a:endParaRPr lang="en-IL" sz="1000" dirty="0">
              <a:solidFill>
                <a:schemeClr val="tx1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4B464F9-6AAF-7804-6F29-4F6DD19E3642}"/>
              </a:ext>
            </a:extLst>
          </p:cNvPr>
          <p:cNvGrpSpPr/>
          <p:nvPr/>
        </p:nvGrpSpPr>
        <p:grpSpPr>
          <a:xfrm>
            <a:off x="6791185" y="3462441"/>
            <a:ext cx="739155" cy="386740"/>
            <a:chOff x="5273718" y="3731491"/>
            <a:chExt cx="739155" cy="386740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4019496-853F-5288-6A14-62886AA1B2CF}"/>
                </a:ext>
              </a:extLst>
            </p:cNvPr>
            <p:cNvCxnSpPr>
              <a:cxnSpLocks/>
            </p:cNvCxnSpPr>
            <p:nvPr/>
          </p:nvCxnSpPr>
          <p:spPr>
            <a:xfrm>
              <a:off x="5273718" y="4118231"/>
              <a:ext cx="739155" cy="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DD14360-5B4D-B512-D6C2-6A76C36EA3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2445" y="3731491"/>
              <a:ext cx="0" cy="38674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4745260-F9CA-A949-DA46-E344C6298A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3718" y="3744158"/>
              <a:ext cx="738727" cy="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D3546F2-695A-79B2-8073-D5C43209B41B}"/>
              </a:ext>
            </a:extLst>
          </p:cNvPr>
          <p:cNvSpPr/>
          <p:nvPr/>
        </p:nvSpPr>
        <p:spPr>
          <a:xfrm>
            <a:off x="6674521" y="3270965"/>
            <a:ext cx="1035591" cy="19780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Generate JWT</a:t>
            </a:r>
            <a:endParaRPr lang="en-IL" sz="1000" dirty="0">
              <a:solidFill>
                <a:schemeClr val="tx1"/>
              </a:solidFill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A2F8A69-3056-70E8-40D1-7FF2919F3C55}"/>
              </a:ext>
            </a:extLst>
          </p:cNvPr>
          <p:cNvCxnSpPr>
            <a:cxnSpLocks/>
          </p:cNvCxnSpPr>
          <p:nvPr/>
        </p:nvCxnSpPr>
        <p:spPr>
          <a:xfrm>
            <a:off x="6772706" y="3060662"/>
            <a:ext cx="1837854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2F74B1B-C2CF-312F-B5EC-1F566966A6F7}"/>
              </a:ext>
            </a:extLst>
          </p:cNvPr>
          <p:cNvSpPr/>
          <p:nvPr/>
        </p:nvSpPr>
        <p:spPr>
          <a:xfrm>
            <a:off x="6827257" y="2867880"/>
            <a:ext cx="1760215" cy="16103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Validate (OK)</a:t>
            </a:r>
            <a:endParaRPr lang="en-IL" sz="1000" dirty="0">
              <a:solidFill>
                <a:schemeClr val="tx1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AD4F2FC-2F9F-2F97-30BF-C4B1E7902E5E}"/>
              </a:ext>
            </a:extLst>
          </p:cNvPr>
          <p:cNvCxnSpPr>
            <a:cxnSpLocks/>
          </p:cNvCxnSpPr>
          <p:nvPr/>
        </p:nvCxnSpPr>
        <p:spPr>
          <a:xfrm>
            <a:off x="4588309" y="4219823"/>
            <a:ext cx="2136551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FA3C70E-C1FE-E0AB-E83A-E6A94D68CE54}"/>
              </a:ext>
            </a:extLst>
          </p:cNvPr>
          <p:cNvSpPr/>
          <p:nvPr/>
        </p:nvSpPr>
        <p:spPr>
          <a:xfrm>
            <a:off x="4527122" y="4027041"/>
            <a:ext cx="1875953" cy="18775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Token (user info + secret key)</a:t>
            </a:r>
            <a:endParaRPr lang="en-IL" sz="1000" dirty="0">
              <a:solidFill>
                <a:schemeClr val="tx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63FB805-5378-1F9A-A37C-1DBD556E1939}"/>
              </a:ext>
            </a:extLst>
          </p:cNvPr>
          <p:cNvGrpSpPr/>
          <p:nvPr/>
        </p:nvGrpSpPr>
        <p:grpSpPr>
          <a:xfrm>
            <a:off x="4597552" y="4630839"/>
            <a:ext cx="739155" cy="386740"/>
            <a:chOff x="5273718" y="3731491"/>
            <a:chExt cx="739155" cy="386740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E9C10E3D-FC0B-C844-D1DC-6528F6357672}"/>
                </a:ext>
              </a:extLst>
            </p:cNvPr>
            <p:cNvCxnSpPr>
              <a:cxnSpLocks/>
            </p:cNvCxnSpPr>
            <p:nvPr/>
          </p:nvCxnSpPr>
          <p:spPr>
            <a:xfrm>
              <a:off x="5273718" y="4118231"/>
              <a:ext cx="739155" cy="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76E7C902-4AF0-84FB-E97B-0319DF5B4E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2445" y="3731491"/>
              <a:ext cx="0" cy="38674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C2386B1D-3CDB-91E1-B84C-C413E9B93B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73718" y="3744158"/>
              <a:ext cx="738727" cy="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A220F6EC-5DF4-C13D-C19E-BBF0C56B68DE}"/>
              </a:ext>
            </a:extLst>
          </p:cNvPr>
          <p:cNvSpPr/>
          <p:nvPr/>
        </p:nvSpPr>
        <p:spPr>
          <a:xfrm>
            <a:off x="4524691" y="4438058"/>
            <a:ext cx="2321910" cy="16347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Store token (for future Authorizations)</a:t>
            </a:r>
            <a:endParaRPr lang="en-IL" sz="1000" dirty="0">
              <a:solidFill>
                <a:schemeClr val="tx1"/>
              </a:solidFill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27719293-2F5E-F735-44E9-EACA9FB9502E}"/>
              </a:ext>
            </a:extLst>
          </p:cNvPr>
          <p:cNvSpPr/>
          <p:nvPr/>
        </p:nvSpPr>
        <p:spPr>
          <a:xfrm>
            <a:off x="3931321" y="310557"/>
            <a:ext cx="3143734" cy="4308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Valid Login Sequence Diagram</a:t>
            </a:r>
            <a:endParaRPr lang="en-IL" sz="1050" dirty="0"/>
          </a:p>
        </p:txBody>
      </p:sp>
    </p:spTree>
    <p:extLst>
      <p:ext uri="{BB962C8B-B14F-4D97-AF65-F5344CB8AC3E}">
        <p14:creationId xmlns:p14="http://schemas.microsoft.com/office/powerpoint/2010/main" val="2339679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">
            <a:extLst>
              <a:ext uri="{FF2B5EF4-FFF2-40B4-BE49-F238E27FC236}">
                <a16:creationId xmlns:a16="http://schemas.microsoft.com/office/drawing/2014/main" id="{B4BD6E5A-AAB8-5F8A-B6A4-0E2AC1D4C1ED}"/>
              </a:ext>
            </a:extLst>
          </p:cNvPr>
          <p:cNvSpPr txBox="1"/>
          <p:nvPr/>
        </p:nvSpPr>
        <p:spPr>
          <a:xfrm>
            <a:off x="4474671" y="259557"/>
            <a:ext cx="4555029" cy="5833479"/>
          </a:xfrm>
          <a:prstGeom prst="rect">
            <a:avLst/>
          </a:prstGeom>
          <a:solidFill>
            <a:schemeClr val="lt1"/>
          </a:solidFill>
          <a:ln w="28575">
            <a:solidFill>
              <a:prstClr val="black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5000"/>
              </a:lnSpc>
              <a:spcAft>
                <a:spcPts val="800"/>
              </a:spcAft>
              <a:buNone/>
            </a:pPr>
            <a:r>
              <a:rPr lang="en-IL" sz="110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 </a:t>
            </a:r>
            <a:endParaRPr lang="en-IL" sz="1050">
              <a:effectLst/>
              <a:latin typeface="Calibri" panose="020F0502020204030204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4B8B24F5-2B78-0DDD-183D-1FB154476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4861" y="1602741"/>
            <a:ext cx="831850" cy="2413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HTTPS</a:t>
            </a:r>
            <a:endParaRPr kumimoji="0" lang="en-US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Flowchart: Magnetic Disk 2">
            <a:extLst>
              <a:ext uri="{FF2B5EF4-FFF2-40B4-BE49-F238E27FC236}">
                <a16:creationId xmlns:a16="http://schemas.microsoft.com/office/drawing/2014/main" id="{0AC3C2ED-CA73-0D1C-A9D1-F49F92A50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788" y="310040"/>
            <a:ext cx="651264" cy="593367"/>
          </a:xfrm>
          <a:prstGeom prst="flowChartMagneticDisk">
            <a:avLst/>
          </a:prstGeom>
          <a:solidFill>
            <a:srgbClr val="FFC000"/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Users</a:t>
            </a:r>
            <a:endParaRPr kumimoji="0" lang="en-IL" altLang="en-I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(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Docker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)</a:t>
            </a: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A6DEE33-F976-4653-8FDB-0365D8CCB605}"/>
              </a:ext>
            </a:extLst>
          </p:cNvPr>
          <p:cNvCxnSpPr>
            <a:cxnSpLocks/>
          </p:cNvCxnSpPr>
          <p:nvPr/>
        </p:nvCxnSpPr>
        <p:spPr>
          <a:xfrm>
            <a:off x="2714048" y="1823063"/>
            <a:ext cx="894944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945284D-A7FB-CF35-EF91-6520B24B63E0}"/>
              </a:ext>
            </a:extLst>
          </p:cNvPr>
          <p:cNvGrpSpPr/>
          <p:nvPr/>
        </p:nvGrpSpPr>
        <p:grpSpPr>
          <a:xfrm>
            <a:off x="4351942" y="764964"/>
            <a:ext cx="3164040" cy="632037"/>
            <a:chOff x="4351942" y="1669839"/>
            <a:chExt cx="3164040" cy="632037"/>
          </a:xfrm>
        </p:grpSpPr>
        <p:sp>
          <p:nvSpPr>
            <p:cNvPr id="78" name="Text Box 22">
              <a:extLst>
                <a:ext uri="{FF2B5EF4-FFF2-40B4-BE49-F238E27FC236}">
                  <a16:creationId xmlns:a16="http://schemas.microsoft.com/office/drawing/2014/main" id="{5B8C4264-B951-62F2-E531-C3FA4CB076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4310" y="1769925"/>
              <a:ext cx="631672" cy="24030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IL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Pub/</a:t>
              </a:r>
              <a:r>
                <a:rPr lang="en-US" altLang="en-IL" sz="1000" dirty="0"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Sub</a:t>
              </a:r>
            </a:p>
          </p:txBody>
        </p:sp>
        <p:sp>
          <p:nvSpPr>
            <p:cNvPr id="5" name="Text Box 22">
              <a:extLst>
                <a:ext uri="{FF2B5EF4-FFF2-40B4-BE49-F238E27FC236}">
                  <a16:creationId xmlns:a16="http://schemas.microsoft.com/office/drawing/2014/main" id="{0BB7B8E0-9732-B992-D5DA-D9E29741BC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1040" y="1669839"/>
              <a:ext cx="782286" cy="3577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IL"/>
              </a:defPPr>
              <a:lvl1pPr marR="0" lv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normalizeH="0" baseline="0">
                  <a:ln>
                    <a:noFill/>
                  </a:ln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defRPr>
              </a:lvl1pPr>
            </a:lstStyle>
            <a:p>
              <a:r>
                <a:rPr lang="en-US" altLang="en-IL" dirty="0"/>
                <a:t>Login request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61F1062-9CFE-5A7A-C3B8-CEDCD9FFD6B4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4351942" y="2032001"/>
              <a:ext cx="1002344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: Rounded Corners 15">
              <a:extLst>
                <a:ext uri="{FF2B5EF4-FFF2-40B4-BE49-F238E27FC236}">
                  <a16:creationId xmlns:a16="http://schemas.microsoft.com/office/drawing/2014/main" id="{6E94CCDA-3DF1-C4CE-EA01-C8331015C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4286" y="1762126"/>
              <a:ext cx="1127125" cy="539750"/>
            </a:xfrm>
            <a:prstGeom prst="roundRect">
              <a:avLst>
                <a:gd name="adj" fmla="val 16667"/>
              </a:avLst>
            </a:prstGeom>
            <a:solidFill>
              <a:srgbClr val="FFC000"/>
            </a:solidFill>
            <a:ln w="12700">
              <a:solidFill>
                <a:srgbClr val="09101D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IL" altLang="en-IL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Authentication Service </a:t>
              </a:r>
              <a:r>
                <a:rPr kumimoji="0" lang="en-US" altLang="en-IL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(</a:t>
              </a:r>
              <a:r>
                <a:rPr kumimoji="0" lang="en-IL" altLang="en-IL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Docker</a:t>
              </a:r>
              <a:r>
                <a:rPr kumimoji="0" lang="en-US" altLang="en-IL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)</a:t>
              </a:r>
              <a:endParaRPr kumimoji="0" lang="en-IL" altLang="en-I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4" name="AutoShape 13">
            <a:extLst>
              <a:ext uri="{FF2B5EF4-FFF2-40B4-BE49-F238E27FC236}">
                <a16:creationId xmlns:a16="http://schemas.microsoft.com/office/drawing/2014/main" id="{8274992B-9FB8-80FB-A060-44A48608B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1348" y="1441927"/>
            <a:ext cx="1282700" cy="873125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Frontend - React</a:t>
            </a:r>
            <a:endParaRPr kumimoji="0" lang="en-IL" altLang="en-I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(Web-based client)</a:t>
            </a:r>
            <a:endParaRPr kumimoji="0" lang="en-IL" altLang="en-I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12">
            <a:extLst>
              <a:ext uri="{FF2B5EF4-FFF2-40B4-BE49-F238E27FC236}">
                <a16:creationId xmlns:a16="http://schemas.microsoft.com/office/drawing/2014/main" id="{68B3DD5F-2A34-E66A-FB54-1AB82B1AA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8992" y="463256"/>
            <a:ext cx="742950" cy="5508919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API Gateway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IL" sz="1000" dirty="0"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(Docker)</a:t>
            </a:r>
            <a:endParaRPr kumimoji="0" lang="en-US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AutoShape 9">
            <a:extLst>
              <a:ext uri="{FF2B5EF4-FFF2-40B4-BE49-F238E27FC236}">
                <a16:creationId xmlns:a16="http://schemas.microsoft.com/office/drawing/2014/main" id="{B3808893-AD44-D7E8-207B-2805A7420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7804" y="416747"/>
            <a:ext cx="688975" cy="5505450"/>
          </a:xfrm>
          <a:prstGeom prst="roundRect">
            <a:avLst>
              <a:gd name="adj" fmla="val 16667"/>
            </a:avLst>
          </a:prstGeom>
          <a:solidFill>
            <a:schemeClr val="bg2">
              <a:lumMod val="90000"/>
            </a:schemeClr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Message </a:t>
            </a:r>
            <a:endParaRPr kumimoji="0" lang="en-IL" altLang="en-I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Queues </a:t>
            </a:r>
            <a:endParaRPr kumimoji="0" lang="en-IL" altLang="en-I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IL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(</a:t>
            </a:r>
            <a:r>
              <a:rPr kumimoji="0" lang="en-IL" altLang="en-IL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Docker </a:t>
            </a:r>
            <a:r>
              <a:rPr kumimoji="0" lang="en-US" altLang="en-IL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-</a:t>
            </a:r>
            <a:endParaRPr kumimoji="0" lang="en-IL" altLang="en-I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Kafka)</a:t>
            </a:r>
            <a:endParaRPr kumimoji="0" lang="en-IL" altLang="en-I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AutoShape 2">
            <a:extLst>
              <a:ext uri="{FF2B5EF4-FFF2-40B4-BE49-F238E27FC236}">
                <a16:creationId xmlns:a16="http://schemas.microsoft.com/office/drawing/2014/main" id="{DC455A53-BB69-DCAF-595E-75C422424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7530" y="1359060"/>
            <a:ext cx="688975" cy="593368"/>
          </a:xfrm>
          <a:prstGeom prst="flowChartMagneticDisk">
            <a:avLst/>
          </a:prstGeom>
          <a:solidFill>
            <a:srgbClr val="92D050"/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Customers</a:t>
            </a:r>
            <a:endParaRPr kumimoji="0" lang="en-IL" altLang="en-IL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(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Docker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)</a:t>
            </a: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1">
            <a:extLst>
              <a:ext uri="{FF2B5EF4-FFF2-40B4-BE49-F238E27FC236}">
                <a16:creationId xmlns:a16="http://schemas.microsoft.com/office/drawing/2014/main" id="{0BFB8127-4BB7-43CF-3231-EA937997B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727" y="2576105"/>
            <a:ext cx="688975" cy="593367"/>
          </a:xfrm>
          <a:prstGeom prst="flowChartMagneticDisk">
            <a:avLst/>
          </a:prstGeom>
          <a:solidFill>
            <a:srgbClr val="00B0F0"/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Orders</a:t>
            </a:r>
            <a:endParaRPr kumimoji="0" lang="en-IL" altLang="en-IL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(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Docker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)</a:t>
            </a: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411A9F9-7920-9F3A-2382-F186671675E9}"/>
              </a:ext>
            </a:extLst>
          </p:cNvPr>
          <p:cNvCxnSpPr>
            <a:cxnSpLocks/>
          </p:cNvCxnSpPr>
          <p:nvPr/>
        </p:nvCxnSpPr>
        <p:spPr>
          <a:xfrm>
            <a:off x="6481411" y="1116942"/>
            <a:ext cx="1592128" cy="860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7210206-BFE6-FE0F-CBA4-1C31FDDC1A0E}"/>
              </a:ext>
            </a:extLst>
          </p:cNvPr>
          <p:cNvGrpSpPr/>
          <p:nvPr/>
        </p:nvGrpSpPr>
        <p:grpSpPr>
          <a:xfrm>
            <a:off x="4351942" y="1845333"/>
            <a:ext cx="3721597" cy="647518"/>
            <a:chOff x="4351942" y="2312058"/>
            <a:chExt cx="3721597" cy="647518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38D2737-1719-0380-53F8-1D4175B195EE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4351942" y="2688250"/>
              <a:ext cx="1018079" cy="10182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 Box 22">
              <a:extLst>
                <a:ext uri="{FF2B5EF4-FFF2-40B4-BE49-F238E27FC236}">
                  <a16:creationId xmlns:a16="http://schemas.microsoft.com/office/drawing/2014/main" id="{E0526BA8-477E-5F75-F238-A356BC089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92270" y="2454070"/>
              <a:ext cx="631672" cy="24030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IL"/>
              </a:defPPr>
              <a:lvl1pPr marR="0" lv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normalizeH="0" baseline="0">
                  <a:ln>
                    <a:noFill/>
                  </a:ln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defRPr>
              </a:lvl1pPr>
            </a:lstStyle>
            <a:p>
              <a:r>
                <a:rPr lang="en-US" altLang="en-IL" dirty="0"/>
                <a:t>Pub/Sub</a:t>
              </a:r>
            </a:p>
          </p:txBody>
        </p:sp>
        <p:sp>
          <p:nvSpPr>
            <p:cNvPr id="17" name="AutoShape 10">
              <a:extLst>
                <a:ext uri="{FF2B5EF4-FFF2-40B4-BE49-F238E27FC236}">
                  <a16:creationId xmlns:a16="http://schemas.microsoft.com/office/drawing/2014/main" id="{225245A2-6EC4-6296-1E4E-DD80708B0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0021" y="2437288"/>
              <a:ext cx="1143000" cy="522288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 w="12700">
              <a:solidFill>
                <a:srgbClr val="09101D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IL" altLang="en-IL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Customers Service </a:t>
              </a:r>
              <a:r>
                <a:rPr kumimoji="0" lang="en-US" altLang="en-IL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(</a:t>
              </a:r>
              <a:r>
                <a:rPr kumimoji="0" lang="en-IL" altLang="en-IL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Docker</a:t>
              </a:r>
              <a:r>
                <a:rPr kumimoji="0" lang="en-US" altLang="en-IL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)</a:t>
              </a:r>
              <a:endParaRPr kumimoji="0" lang="en-IL" altLang="en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IL" altLang="en-IL" sz="1000" dirty="0"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4" name="Text Box 22">
              <a:extLst>
                <a:ext uri="{FF2B5EF4-FFF2-40B4-BE49-F238E27FC236}">
                  <a16:creationId xmlns:a16="http://schemas.microsoft.com/office/drawing/2014/main" id="{B0FBD723-3559-8D84-CF94-E857CA492C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6443" y="2312058"/>
              <a:ext cx="782286" cy="3427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IL" sz="1000" dirty="0"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Customer</a:t>
              </a:r>
              <a:r>
                <a:rPr kumimoji="0" lang="en-US" altLang="en-IL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 info</a:t>
              </a:r>
              <a:endParaRPr kumimoji="0" lang="en-US" altLang="en-I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FC4CD30F-9C34-B4FF-29F5-6C2F6F6A79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13021" y="2665913"/>
              <a:ext cx="1560518" cy="22337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DBFE4C9-8C15-A9A1-74D1-2BB7148DF874}"/>
              </a:ext>
            </a:extLst>
          </p:cNvPr>
          <p:cNvGrpSpPr/>
          <p:nvPr/>
        </p:nvGrpSpPr>
        <p:grpSpPr>
          <a:xfrm>
            <a:off x="4351942" y="3064351"/>
            <a:ext cx="3721597" cy="606743"/>
            <a:chOff x="4351942" y="3007201"/>
            <a:chExt cx="3721597" cy="606743"/>
          </a:xfrm>
        </p:grpSpPr>
        <p:sp>
          <p:nvSpPr>
            <p:cNvPr id="80" name="Text Box 22">
              <a:extLst>
                <a:ext uri="{FF2B5EF4-FFF2-40B4-BE49-F238E27FC236}">
                  <a16:creationId xmlns:a16="http://schemas.microsoft.com/office/drawing/2014/main" id="{32027E2E-D2BC-E825-E95D-120155431D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9721" y="3091656"/>
              <a:ext cx="631672" cy="24030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IL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Pub/Sub</a:t>
              </a:r>
              <a:endParaRPr kumimoji="0" lang="en-US" altLang="en-I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8" name="Text Box 22">
              <a:extLst>
                <a:ext uri="{FF2B5EF4-FFF2-40B4-BE49-F238E27FC236}">
                  <a16:creationId xmlns:a16="http://schemas.microsoft.com/office/drawing/2014/main" id="{F02CFB14-0E2D-C566-41B4-714C6DE94F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1203" y="3007201"/>
              <a:ext cx="782286" cy="3427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IL"/>
              </a:defPPr>
              <a:lvl1pPr marR="0" lvl="0" indent="0" algn="ctr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kumimoji="0" sz="1000" b="0" i="0" u="none" strike="noStrike" cap="none" normalizeH="0" baseline="0">
                  <a:ln>
                    <a:noFill/>
                  </a:ln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defRPr>
              </a:lvl1pPr>
            </a:lstStyle>
            <a:p>
              <a:r>
                <a:rPr lang="en-US" altLang="en-IL" dirty="0"/>
                <a:t>Create order</a:t>
              </a:r>
            </a:p>
          </p:txBody>
        </p:sp>
        <p:sp>
          <p:nvSpPr>
            <p:cNvPr id="21" name="AutoShape 6">
              <a:extLst>
                <a:ext uri="{FF2B5EF4-FFF2-40B4-BE49-F238E27FC236}">
                  <a16:creationId xmlns:a16="http://schemas.microsoft.com/office/drawing/2014/main" id="{B83EFA9E-9ADB-4940-0DEA-86942EF5D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3671" y="3091656"/>
              <a:ext cx="1143000" cy="522288"/>
            </a:xfrm>
            <a:prstGeom prst="roundRect">
              <a:avLst>
                <a:gd name="adj" fmla="val 16667"/>
              </a:avLst>
            </a:prstGeom>
            <a:solidFill>
              <a:srgbClr val="00B0F0"/>
            </a:solidFill>
            <a:ln w="12700">
              <a:solidFill>
                <a:srgbClr val="09101D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IL" altLang="en-IL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Orders Service </a:t>
              </a:r>
              <a:r>
                <a:rPr kumimoji="0" lang="en-US" altLang="en-IL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(</a:t>
              </a:r>
              <a:r>
                <a:rPr kumimoji="0" lang="en-IL" altLang="en-IL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Docker</a:t>
              </a:r>
              <a:r>
                <a:rPr kumimoji="0" lang="en-US" altLang="en-IL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)</a:t>
              </a:r>
              <a:endParaRPr kumimoji="0" lang="en-IL" altLang="en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IL" altLang="en-IL" sz="800" dirty="0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2EC097BC-16E7-639B-1866-8A3B3E655542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4351942" y="3352800"/>
              <a:ext cx="1011729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C8ABEEA0-4556-8AA6-24BA-935087F8140C}"/>
                </a:ext>
              </a:extLst>
            </p:cNvPr>
            <p:cNvCxnSpPr>
              <a:cxnSpLocks/>
            </p:cNvCxnSpPr>
            <p:nvPr/>
          </p:nvCxnSpPr>
          <p:spPr>
            <a:xfrm>
              <a:off x="6513021" y="3350000"/>
              <a:ext cx="1560518" cy="2185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765FF06-C8BB-8903-1571-AB8CA3E0C787}"/>
              </a:ext>
            </a:extLst>
          </p:cNvPr>
          <p:cNvGrpSpPr/>
          <p:nvPr/>
        </p:nvGrpSpPr>
        <p:grpSpPr>
          <a:xfrm>
            <a:off x="4351942" y="4159726"/>
            <a:ext cx="3705862" cy="534011"/>
            <a:chOff x="4351942" y="3721576"/>
            <a:chExt cx="3705862" cy="534011"/>
          </a:xfrm>
        </p:grpSpPr>
        <p:sp>
          <p:nvSpPr>
            <p:cNvPr id="81" name="Text Box 22">
              <a:extLst>
                <a:ext uri="{FF2B5EF4-FFF2-40B4-BE49-F238E27FC236}">
                  <a16:creationId xmlns:a16="http://schemas.microsoft.com/office/drawing/2014/main" id="{A4A6240C-E4D4-7386-48AB-6E8E3AF50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2860" y="3731379"/>
              <a:ext cx="631672" cy="2403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IL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Pub/</a:t>
              </a:r>
              <a:r>
                <a:rPr lang="en-US" altLang="en-IL" sz="1000" dirty="0"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Sub</a:t>
              </a:r>
            </a:p>
          </p:txBody>
        </p:sp>
        <p:sp>
          <p:nvSpPr>
            <p:cNvPr id="77" name="Text Box 22">
              <a:extLst>
                <a:ext uri="{FF2B5EF4-FFF2-40B4-BE49-F238E27FC236}">
                  <a16:creationId xmlns:a16="http://schemas.microsoft.com/office/drawing/2014/main" id="{2345B721-61E4-DFA1-C7F3-B6D03F7399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1203" y="3721576"/>
              <a:ext cx="782286" cy="34279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IL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Log </a:t>
              </a:r>
              <a:r>
                <a:rPr lang="en-US" altLang="en-IL" sz="1000" dirty="0"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event</a:t>
              </a:r>
            </a:p>
          </p:txBody>
        </p:sp>
        <p:sp>
          <p:nvSpPr>
            <p:cNvPr id="19" name="AutoShape 8">
              <a:extLst>
                <a:ext uri="{FF2B5EF4-FFF2-40B4-BE49-F238E27FC236}">
                  <a16:creationId xmlns:a16="http://schemas.microsoft.com/office/drawing/2014/main" id="{F39FB9DE-4F9C-1D70-789D-D4FEAB4F0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4286" y="3733299"/>
              <a:ext cx="1143000" cy="522288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rgbClr val="09101D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IL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IL" altLang="en-IL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Logging Service </a:t>
              </a:r>
              <a:r>
                <a:rPr kumimoji="0" lang="en-US" altLang="en-IL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(</a:t>
              </a:r>
              <a:r>
                <a:rPr kumimoji="0" lang="en-IL" altLang="en-IL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Docker)</a:t>
              </a:r>
              <a:endParaRPr kumimoji="0" lang="en-IL" altLang="en-IL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IL" altLang="en-IL" sz="1000" dirty="0"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C8D0513-A857-DD04-E860-84BB3512E70B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>
              <a:off x="4351942" y="3994443"/>
              <a:ext cx="1002344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6E578F22-E59D-92D5-9650-A1A6483FF519}"/>
                </a:ext>
              </a:extLst>
            </p:cNvPr>
            <p:cNvCxnSpPr>
              <a:cxnSpLocks/>
            </p:cNvCxnSpPr>
            <p:nvPr/>
          </p:nvCxnSpPr>
          <p:spPr>
            <a:xfrm>
              <a:off x="6481411" y="3994443"/>
              <a:ext cx="1576393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ectangle: Rounded Corners 15">
            <a:extLst>
              <a:ext uri="{FF2B5EF4-FFF2-40B4-BE49-F238E27FC236}">
                <a16:creationId xmlns:a16="http://schemas.microsoft.com/office/drawing/2014/main" id="{3CBEF902-8A6F-A201-BC55-0CED097E6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1639" y="3593787"/>
            <a:ext cx="754063" cy="53975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IL" sz="1000" dirty="0"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Log Files Storage</a:t>
            </a: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6A0D5AA-EFAE-0AB6-06A4-BC0A247C953E}"/>
              </a:ext>
            </a:extLst>
          </p:cNvPr>
          <p:cNvCxnSpPr>
            <a:cxnSpLocks/>
            <a:endCxn id="26" idx="2"/>
          </p:cNvCxnSpPr>
          <p:nvPr/>
        </p:nvCxnSpPr>
        <p:spPr>
          <a:xfrm flipV="1">
            <a:off x="6501745" y="2872789"/>
            <a:ext cx="534982" cy="342799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C282F94-4E6A-9A8A-508E-E83D1329CE5D}"/>
              </a:ext>
            </a:extLst>
          </p:cNvPr>
          <p:cNvCxnSpPr>
            <a:cxnSpLocks/>
            <a:endCxn id="83" idx="1"/>
          </p:cNvCxnSpPr>
          <p:nvPr/>
        </p:nvCxnSpPr>
        <p:spPr>
          <a:xfrm flipV="1">
            <a:off x="6484592" y="3863662"/>
            <a:ext cx="487047" cy="378131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C82441E8-65A1-021B-2D44-B2AC1A61E2DF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6470905" y="1655744"/>
            <a:ext cx="546625" cy="330517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FD8267D-B91C-F378-D676-5B3E9CF8CAD1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6435070" y="606724"/>
            <a:ext cx="669718" cy="284764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792E854-3885-C899-3B43-2972CE4B5E58}"/>
              </a:ext>
            </a:extLst>
          </p:cNvPr>
          <p:cNvGrpSpPr/>
          <p:nvPr/>
        </p:nvGrpSpPr>
        <p:grpSpPr>
          <a:xfrm>
            <a:off x="5354285" y="5446641"/>
            <a:ext cx="2719254" cy="386116"/>
            <a:chOff x="5354285" y="4960866"/>
            <a:chExt cx="2719254" cy="386116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F0BD8592-0685-FD87-7FB3-BD0584B16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4285" y="4960866"/>
              <a:ext cx="1142999" cy="386116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09101D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eaLnBrk="0" fontAlgn="base" hangingPunct="0">
                <a:lnSpc>
                  <a:spcPct val="125000"/>
                </a:lnSpc>
                <a:spcAft>
                  <a:spcPts val="800"/>
                </a:spcAft>
                <a:buNone/>
              </a:pPr>
              <a:r>
                <a:rPr lang="en-US" sz="900" kern="12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Publisher</a:t>
              </a:r>
              <a:r>
                <a:rPr lang="en-IL" sz="900" kern="12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 Service </a:t>
              </a:r>
              <a:r>
                <a:rPr lang="en-US" sz="900" kern="12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(</a:t>
              </a:r>
              <a:r>
                <a:rPr lang="en-IL" sz="900" kern="12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Docker</a:t>
              </a:r>
              <a:r>
                <a:rPr lang="en-US" sz="900" kern="1200" dirty="0">
                  <a:solidFill>
                    <a:srgbClr val="000000"/>
                  </a:solidFill>
                  <a:effectLst/>
                  <a:latin typeface="Calibri" panose="020F0502020204030204" pitchFamily="34" charset="0"/>
                  <a:ea typeface="Yu Gothic" panose="020B0400000000000000" pitchFamily="34" charset="-128"/>
                  <a:cs typeface="Arial" panose="020B0604020202020204" pitchFamily="34" charset="0"/>
                </a:rPr>
                <a:t>)</a:t>
              </a:r>
              <a:endParaRPr lang="en-IL" sz="1050" dirty="0"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endParaRPr>
            </a:p>
          </p:txBody>
        </p: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CA47F70B-F0B0-E0F2-C47C-073E3E59B473}"/>
                </a:ext>
              </a:extLst>
            </p:cNvPr>
            <p:cNvCxnSpPr>
              <a:cxnSpLocks/>
            </p:cNvCxnSpPr>
            <p:nvPr/>
          </p:nvCxnSpPr>
          <p:spPr>
            <a:xfrm>
              <a:off x="6497284" y="5146968"/>
              <a:ext cx="1576255" cy="0"/>
            </a:xfrm>
            <a:prstGeom prst="straightConnector1">
              <a:avLst/>
            </a:prstGeom>
            <a:ln w="19050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2CCBC4DB-0CFF-A937-B857-6E8703874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2524" y="4884672"/>
            <a:ext cx="1142999" cy="386116"/>
          </a:xfrm>
          <a:prstGeom prst="roundRect">
            <a:avLst>
              <a:gd name="adj" fmla="val 16667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hangingPunct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9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Notifications worker</a:t>
            </a:r>
            <a:r>
              <a:rPr lang="en-IL" sz="9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 </a:t>
            </a:r>
            <a:r>
              <a:rPr lang="en-US" sz="9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(</a:t>
            </a:r>
            <a:r>
              <a:rPr lang="en-IL" sz="9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Docker</a:t>
            </a:r>
            <a:r>
              <a:rPr lang="en-US" sz="9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)</a:t>
            </a:r>
            <a:endParaRPr lang="en-IL" sz="1050" dirty="0">
              <a:effectLst/>
              <a:latin typeface="Calibri" panose="020F0502020204030204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858FFCF7-07E1-1B7A-B817-BEE1C4621A59}"/>
              </a:ext>
            </a:extLst>
          </p:cNvPr>
          <p:cNvCxnSpPr>
            <a:cxnSpLocks/>
          </p:cNvCxnSpPr>
          <p:nvPr/>
        </p:nvCxnSpPr>
        <p:spPr>
          <a:xfrm>
            <a:off x="6506671" y="5077730"/>
            <a:ext cx="1576255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196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6CD954-48C9-7D5D-A37B-8130EF956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1408" y="797363"/>
            <a:ext cx="5769864" cy="3180277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7916" rIns="0" bIns="14600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A2C/ </a:t>
            </a: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├── Client/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                       		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← Frontend (React) </a:t>
            </a: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├── Server/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                     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		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← Backend </a:t>
            </a: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│ ├── AuthService/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		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←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  <a:cs typeface="Arial" panose="020B0604020202020204" pitchFamily="34" charset="0"/>
              </a:rPr>
              <a:t>Log in Service</a:t>
            </a: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│ ├── CustomersService/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		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←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  <a:cs typeface="Arial" panose="020B0604020202020204" pitchFamily="34" charset="0"/>
              </a:rPr>
              <a:t>Customers service</a:t>
            </a: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│ ├── OrdersService/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		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←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  <a:cs typeface="Arial" panose="020B0604020202020204" pitchFamily="34" charset="0"/>
              </a:rPr>
              <a:t>Orders Service</a:t>
            </a: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│ ├── LoggingService/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		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←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  <a:cs typeface="Arial" panose="020B0604020202020204" pitchFamily="34" charset="0"/>
              </a:rPr>
              <a:t>Logs service</a:t>
            </a: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│ ├── NotificationsWorker/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		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← </a:t>
            </a:r>
            <a:r>
              <a:rPr lang="en-US" altLang="en-IL" sz="1000" dirty="0">
                <a:solidFill>
                  <a:srgbClr val="424242"/>
                </a:solidFill>
                <a:latin typeface="Arial Unicode MS"/>
                <a:ea typeface="source-code-pro"/>
              </a:rPr>
              <a:t>Notifications w</a:t>
            </a:r>
            <a:r>
              <a:rPr lang="en-US" altLang="en-IL" sz="1000" dirty="0">
                <a:solidFill>
                  <a:srgbClr val="424242"/>
                </a:solidFill>
                <a:latin typeface="Arial Unicode MS"/>
                <a:ea typeface="source-code-pro"/>
                <a:cs typeface="Arial" panose="020B0604020202020204" pitchFamily="34" charset="0"/>
              </a:rPr>
              <a:t>orker service </a:t>
            </a: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│ ├── PublisherService/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		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←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  <a:cs typeface="Arial" panose="020B0604020202020204" pitchFamily="34" charset="0"/>
              </a:rPr>
              <a:t>Data </a:t>
            </a:r>
            <a:r>
              <a:rPr lang="en-US" altLang="en-IL" sz="1000" dirty="0">
                <a:solidFill>
                  <a:srgbClr val="424242"/>
                </a:solidFill>
                <a:latin typeface="Arial Unicode MS"/>
                <a:ea typeface="source-code-pro"/>
                <a:cs typeface="Arial" panose="020B0604020202020204" pitchFamily="34" charset="0"/>
              </a:rPr>
              <a:t>publishing service</a:t>
            </a: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│ └── Gateway/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		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← API Gateway </a:t>
            </a: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├── Shared/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			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←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  <a:cs typeface="Arial" panose="020B0604020202020204" pitchFamily="34" charset="0"/>
              </a:rPr>
              <a:t>Shared code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(DTOs, Utils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  <a:cs typeface="Arial" panose="020B0604020202020204" pitchFamily="34" charset="0"/>
              </a:rPr>
              <a:t>etc.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) </a:t>
            </a: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├── Tests/ </a:t>
            </a: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│ ├── AuthService.Tests/ </a:t>
            </a: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│ ├── CustomersService.Tests/ </a:t>
            </a: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│ └── ... </a:t>
            </a: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├── Documentation/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		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← SRS, SDD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  <a:cs typeface="Arial" panose="020B0604020202020204" pitchFamily="34" charset="0"/>
              </a:rPr>
              <a:t>documents etc.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 </a:t>
            </a: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├── docker-compose.yml </a:t>
            </a: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├── docker-compose.override.yml </a:t>
            </a:r>
            <a:endParaRPr kumimoji="0" lang="en-US" altLang="en-IL" sz="10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Arial Unicode MS"/>
              <a:ea typeface="source-code-pr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└── A2C.sln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			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← </a:t>
            </a:r>
            <a:r>
              <a:rPr lang="en-US" altLang="en-IL" sz="1000" dirty="0">
                <a:solidFill>
                  <a:srgbClr val="424242"/>
                </a:solidFill>
                <a:latin typeface="Arial Unicode MS"/>
                <a:ea typeface="source-code-pro"/>
                <a:cs typeface="Arial" panose="020B0604020202020204" pitchFamily="34" charset="0"/>
              </a:rPr>
              <a:t>Main </a:t>
            </a:r>
            <a:r>
              <a:rPr kumimoji="0" lang="en-IL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</a:rPr>
              <a:t>Solution </a:t>
            </a:r>
            <a:r>
              <a:rPr kumimoji="0" lang="en-US" altLang="en-IL" sz="1000" b="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latin typeface="Arial Unicode MS"/>
                <a:ea typeface="source-code-pro"/>
                <a:cs typeface="Arial" panose="020B0604020202020204" pitchFamily="34" charset="0"/>
              </a:rPr>
              <a:t>file</a:t>
            </a:r>
            <a:endParaRPr kumimoji="0" lang="en-IL" altLang="en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75D967-AD34-DFF9-109B-EBB1CB82D2BA}"/>
              </a:ext>
            </a:extLst>
          </p:cNvPr>
          <p:cNvCxnSpPr>
            <a:cxnSpLocks/>
          </p:cNvCxnSpPr>
          <p:nvPr/>
        </p:nvCxnSpPr>
        <p:spPr>
          <a:xfrm>
            <a:off x="2157984" y="1078992"/>
            <a:ext cx="0" cy="267919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74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C46D48-8519-3261-C8EE-454CC2EDF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313" y="380574"/>
            <a:ext cx="3029373" cy="609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460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0B0E54B-83F0-679F-EF54-288C86F34EF6}"/>
              </a:ext>
            </a:extLst>
          </p:cNvPr>
          <p:cNvGrpSpPr/>
          <p:nvPr/>
        </p:nvGrpSpPr>
        <p:grpSpPr>
          <a:xfrm>
            <a:off x="244438" y="566996"/>
            <a:ext cx="2732855" cy="2110652"/>
            <a:chOff x="2037028" y="1176951"/>
            <a:chExt cx="3108185" cy="225204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0586A4F-3F9F-02DA-0527-B1219B53AEAB}"/>
                </a:ext>
              </a:extLst>
            </p:cNvPr>
            <p:cNvSpPr/>
            <p:nvPr/>
          </p:nvSpPr>
          <p:spPr>
            <a:xfrm>
              <a:off x="2037029" y="1176951"/>
              <a:ext cx="3108183" cy="367079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Customer</a:t>
              </a:r>
              <a:endParaRPr lang="en-IL" sz="1200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A543BC1-5C48-5B81-7CB8-842C619216FF}"/>
                </a:ext>
              </a:extLst>
            </p:cNvPr>
            <p:cNvSpPr/>
            <p:nvPr/>
          </p:nvSpPr>
          <p:spPr>
            <a:xfrm>
              <a:off x="2037028" y="1548759"/>
              <a:ext cx="3108185" cy="188023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b="1" dirty="0" err="1">
                  <a:solidFill>
                    <a:schemeClr val="tx1"/>
                  </a:solidFill>
                </a:rPr>
                <a:t>Customer_Id</a:t>
              </a:r>
              <a:r>
                <a:rPr lang="en-US" sz="1200" b="1" dirty="0">
                  <a:solidFill>
                    <a:schemeClr val="tx1"/>
                  </a:solidFill>
                </a:rPr>
                <a:t> </a:t>
              </a:r>
              <a:r>
                <a:rPr lang="en-US" sz="1200" dirty="0">
                  <a:solidFill>
                    <a:schemeClr val="tx1"/>
                  </a:solidFill>
                </a:rPr>
                <a:t>: int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Name : string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Type : </a:t>
              </a:r>
              <a:r>
                <a:rPr lang="en-US" sz="1200" dirty="0" err="1">
                  <a:solidFill>
                    <a:schemeClr val="tx1"/>
                  </a:solidFill>
                </a:rPr>
                <a:t>enum</a:t>
              </a:r>
              <a:r>
                <a:rPr lang="en-US" sz="1200" dirty="0">
                  <a:solidFill>
                    <a:schemeClr val="tx1"/>
                  </a:solidFill>
                </a:rPr>
                <a:t> (Client, Lead, Prospect)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Email : string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Created_At</a:t>
              </a:r>
              <a:r>
                <a:rPr lang="en-US" sz="1200" dirty="0">
                  <a:solidFill>
                    <a:schemeClr val="tx1"/>
                  </a:solidFill>
                </a:rPr>
                <a:t> : datetime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Owner_Name</a:t>
              </a:r>
              <a:r>
                <a:rPr lang="en-US" sz="1200" dirty="0">
                  <a:solidFill>
                    <a:schemeClr val="tx1"/>
                  </a:solidFill>
                </a:rPr>
                <a:t>: string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Billing_Country</a:t>
              </a:r>
              <a:r>
                <a:rPr lang="en-US" sz="1200" dirty="0">
                  <a:solidFill>
                    <a:schemeClr val="tx1"/>
                  </a:solidFill>
                </a:rPr>
                <a:t> : string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Industry : string</a:t>
              </a: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IL" sz="12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F317ED0-B19F-E945-94CE-FE01BAF86158}"/>
              </a:ext>
            </a:extLst>
          </p:cNvPr>
          <p:cNvGrpSpPr/>
          <p:nvPr/>
        </p:nvGrpSpPr>
        <p:grpSpPr>
          <a:xfrm>
            <a:off x="8988434" y="549086"/>
            <a:ext cx="3057653" cy="2868293"/>
            <a:chOff x="2037029" y="1176950"/>
            <a:chExt cx="2136619" cy="391109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F2C56E1-B6E4-16E9-6B14-7BEBA1E1056C}"/>
                </a:ext>
              </a:extLst>
            </p:cNvPr>
            <p:cNvSpPr/>
            <p:nvPr/>
          </p:nvSpPr>
          <p:spPr>
            <a:xfrm>
              <a:off x="2037030" y="1176950"/>
              <a:ext cx="2136618" cy="33379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Address</a:t>
              </a:r>
              <a:endParaRPr lang="en-IL" sz="12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8CB880-B25D-B574-4BAA-C216FDD9E5B6}"/>
                </a:ext>
              </a:extLst>
            </p:cNvPr>
            <p:cNvSpPr/>
            <p:nvPr/>
          </p:nvSpPr>
          <p:spPr>
            <a:xfrm>
              <a:off x="2037029" y="1510740"/>
              <a:ext cx="2136618" cy="357730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b="1" dirty="0" err="1">
                  <a:solidFill>
                    <a:schemeClr val="tx1"/>
                  </a:solidFill>
                </a:rPr>
                <a:t>Address_Id</a:t>
              </a:r>
              <a:endParaRPr lang="en-US" sz="1200" b="1" dirty="0">
                <a:solidFill>
                  <a:schemeClr val="tx1"/>
                </a:solidFill>
              </a:endParaRP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Customer_Id</a:t>
              </a:r>
              <a:r>
                <a:rPr lang="en-US" sz="1200" dirty="0">
                  <a:solidFill>
                    <a:schemeClr val="tx1"/>
                  </a:solidFill>
                </a:rPr>
                <a:t> (FK) : int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Address_Type</a:t>
              </a:r>
              <a:r>
                <a:rPr lang="en-US" sz="1200" dirty="0">
                  <a:solidFill>
                    <a:schemeClr val="tx1"/>
                  </a:solidFill>
                </a:rPr>
                <a:t> : </a:t>
              </a:r>
              <a:r>
                <a:rPr lang="en-US" sz="1200" dirty="0" err="1">
                  <a:solidFill>
                    <a:schemeClr val="tx1"/>
                  </a:solidFill>
                </a:rPr>
                <a:t>enum</a:t>
              </a:r>
              <a:r>
                <a:rPr lang="en-US" sz="1200" dirty="0">
                  <a:solidFill>
                    <a:schemeClr val="tx1"/>
                  </a:solidFill>
                </a:rPr>
                <a:t> (HQ, Shipping, Billing)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Street : string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Street_No</a:t>
              </a:r>
              <a:r>
                <a:rPr lang="en-US" sz="1200" dirty="0">
                  <a:solidFill>
                    <a:schemeClr val="tx1"/>
                  </a:solidFill>
                </a:rPr>
                <a:t> : string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Building: string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Floor : string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City : string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State: string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Province : string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Country : string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Zip_Code</a:t>
              </a:r>
              <a:r>
                <a:rPr lang="en-US" sz="1200" dirty="0">
                  <a:solidFill>
                    <a:schemeClr val="tx1"/>
                  </a:solidFill>
                </a:rPr>
                <a:t> : string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PO_Box</a:t>
              </a:r>
              <a:r>
                <a:rPr lang="en-US" sz="1200" dirty="0">
                  <a:solidFill>
                    <a:schemeClr val="tx1"/>
                  </a:solidFill>
                </a:rPr>
                <a:t> : string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Is_primary</a:t>
              </a:r>
              <a:r>
                <a:rPr lang="en-US" sz="1200" dirty="0">
                  <a:solidFill>
                    <a:schemeClr val="tx1"/>
                  </a:solidFill>
                </a:rPr>
                <a:t> : bool</a:t>
              </a: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IL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843552D-ACA4-1789-BD34-8E1C49CA86DE}"/>
              </a:ext>
            </a:extLst>
          </p:cNvPr>
          <p:cNvGrpSpPr/>
          <p:nvPr/>
        </p:nvGrpSpPr>
        <p:grpSpPr>
          <a:xfrm>
            <a:off x="2977291" y="646303"/>
            <a:ext cx="6218080" cy="344032"/>
            <a:chOff x="4173647" y="2212042"/>
            <a:chExt cx="2082101" cy="34403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3E459E3-23CD-DE33-D5B1-1720D10F2BE2}"/>
                </a:ext>
              </a:extLst>
            </p:cNvPr>
            <p:cNvSpPr/>
            <p:nvPr/>
          </p:nvSpPr>
          <p:spPr>
            <a:xfrm>
              <a:off x="5957175" y="2212042"/>
              <a:ext cx="298573" cy="344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1:N</a:t>
              </a:r>
              <a:endParaRPr lang="en-IL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E749D51-BF04-E7D7-1745-AF5BAD4D5884}"/>
                </a:ext>
              </a:extLst>
            </p:cNvPr>
            <p:cNvCxnSpPr/>
            <p:nvPr/>
          </p:nvCxnSpPr>
          <p:spPr>
            <a:xfrm>
              <a:off x="4173647" y="2489707"/>
              <a:ext cx="20083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D8912B6-5617-AE73-114D-CB927FF2A512}"/>
              </a:ext>
            </a:extLst>
          </p:cNvPr>
          <p:cNvGrpSpPr/>
          <p:nvPr/>
        </p:nvGrpSpPr>
        <p:grpSpPr>
          <a:xfrm>
            <a:off x="5950594" y="1038062"/>
            <a:ext cx="2900756" cy="1518442"/>
            <a:chOff x="2037029" y="1176950"/>
            <a:chExt cx="2136619" cy="3911097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028FC14-BA39-3498-4B9C-A3E9C08ABC02}"/>
                </a:ext>
              </a:extLst>
            </p:cNvPr>
            <p:cNvSpPr/>
            <p:nvPr/>
          </p:nvSpPr>
          <p:spPr>
            <a:xfrm>
              <a:off x="2037030" y="1176950"/>
              <a:ext cx="2136618" cy="743255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Phone</a:t>
              </a:r>
              <a:endParaRPr lang="en-IL" sz="12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D4A721E-861B-83D9-791F-EF2D5147FE8B}"/>
                </a:ext>
              </a:extLst>
            </p:cNvPr>
            <p:cNvSpPr/>
            <p:nvPr/>
          </p:nvSpPr>
          <p:spPr>
            <a:xfrm>
              <a:off x="2037029" y="1920205"/>
              <a:ext cx="2136618" cy="31678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b="1" dirty="0" err="1">
                  <a:solidFill>
                    <a:schemeClr val="tx1"/>
                  </a:solidFill>
                </a:rPr>
                <a:t>Phone_Id</a:t>
              </a:r>
              <a:r>
                <a:rPr lang="en-US" sz="1200" dirty="0">
                  <a:solidFill>
                    <a:schemeClr val="tx1"/>
                  </a:solidFill>
                </a:rPr>
                <a:t> : int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Customer_Id</a:t>
              </a:r>
              <a:r>
                <a:rPr lang="en-US" sz="1200" dirty="0">
                  <a:solidFill>
                    <a:schemeClr val="tx1"/>
                  </a:solidFill>
                </a:rPr>
                <a:t> (FK) : int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Phone_Type</a:t>
              </a:r>
              <a:r>
                <a:rPr lang="en-US" sz="1200" dirty="0">
                  <a:solidFill>
                    <a:schemeClr val="tx1"/>
                  </a:solidFill>
                </a:rPr>
                <a:t> : </a:t>
              </a:r>
              <a:r>
                <a:rPr lang="en-US" sz="1200" dirty="0" err="1">
                  <a:solidFill>
                    <a:schemeClr val="tx1"/>
                  </a:solidFill>
                </a:rPr>
                <a:t>enum</a:t>
              </a:r>
              <a:r>
                <a:rPr lang="en-US" sz="1200" dirty="0">
                  <a:solidFill>
                    <a:schemeClr val="tx1"/>
                  </a:solidFill>
                </a:rPr>
                <a:t>(Office, Mobile, Fax)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Phone_Number</a:t>
              </a:r>
              <a:r>
                <a:rPr lang="en-US" sz="1200" dirty="0">
                  <a:solidFill>
                    <a:schemeClr val="tx1"/>
                  </a:solidFill>
                </a:rPr>
                <a:t> : string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Country_Code</a:t>
              </a:r>
              <a:r>
                <a:rPr lang="en-US" sz="1200" dirty="0">
                  <a:solidFill>
                    <a:schemeClr val="tx1"/>
                  </a:solidFill>
                </a:rPr>
                <a:t> : string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Is_Primary</a:t>
              </a:r>
              <a:r>
                <a:rPr lang="en-US" sz="1200" dirty="0">
                  <a:solidFill>
                    <a:schemeClr val="tx1"/>
                  </a:solidFill>
                </a:rPr>
                <a:t> : bool</a:t>
              </a: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IL" sz="12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6622447-30AE-F51D-BFA3-B625CE4A4AD9}"/>
              </a:ext>
            </a:extLst>
          </p:cNvPr>
          <p:cNvGrpSpPr/>
          <p:nvPr/>
        </p:nvGrpSpPr>
        <p:grpSpPr>
          <a:xfrm>
            <a:off x="2998319" y="1071698"/>
            <a:ext cx="3299739" cy="344032"/>
            <a:chOff x="4173647" y="2200743"/>
            <a:chExt cx="2219785" cy="34403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68AFC55-4A18-16A5-3EC3-65CD06580BC7}"/>
                </a:ext>
              </a:extLst>
            </p:cNvPr>
            <p:cNvSpPr/>
            <p:nvPr/>
          </p:nvSpPr>
          <p:spPr>
            <a:xfrm>
              <a:off x="5524299" y="2200743"/>
              <a:ext cx="869133" cy="344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1:N</a:t>
              </a:r>
              <a:endParaRPr lang="en-IL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A17881F-EFAA-B804-02AC-0B9267ECDCF5}"/>
                </a:ext>
              </a:extLst>
            </p:cNvPr>
            <p:cNvCxnSpPr/>
            <p:nvPr/>
          </p:nvCxnSpPr>
          <p:spPr>
            <a:xfrm>
              <a:off x="4173647" y="2489707"/>
              <a:ext cx="20083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301108-D2DD-6A48-E673-3D40B60397C1}"/>
              </a:ext>
            </a:extLst>
          </p:cNvPr>
          <p:cNvGrpSpPr/>
          <p:nvPr/>
        </p:nvGrpSpPr>
        <p:grpSpPr>
          <a:xfrm>
            <a:off x="1610865" y="5047537"/>
            <a:ext cx="3040689" cy="1531419"/>
            <a:chOff x="2037029" y="1176950"/>
            <a:chExt cx="2136619" cy="391109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F20813B-0115-FA52-F180-8075A5F9D000}"/>
                </a:ext>
              </a:extLst>
            </p:cNvPr>
            <p:cNvSpPr/>
            <p:nvPr/>
          </p:nvSpPr>
          <p:spPr>
            <a:xfrm>
              <a:off x="2037030" y="1176950"/>
              <a:ext cx="2136618" cy="7677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Customer_History</a:t>
              </a:r>
              <a:endParaRPr lang="en-IL" sz="1200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C730C4C-4D79-6A4F-124F-8DE98F34EC63}"/>
                </a:ext>
              </a:extLst>
            </p:cNvPr>
            <p:cNvSpPr/>
            <p:nvPr/>
          </p:nvSpPr>
          <p:spPr>
            <a:xfrm>
              <a:off x="2037029" y="1944680"/>
              <a:ext cx="2136618" cy="314336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b="1" dirty="0" err="1">
                  <a:solidFill>
                    <a:schemeClr val="tx1"/>
                  </a:solidFill>
                </a:rPr>
                <a:t>History_Id</a:t>
              </a:r>
              <a:r>
                <a:rPr lang="en-US" sz="1200" b="1" dirty="0">
                  <a:solidFill>
                    <a:schemeClr val="tx1"/>
                  </a:solidFill>
                </a:rPr>
                <a:t> </a:t>
              </a:r>
              <a:r>
                <a:rPr lang="en-US" sz="1200" dirty="0">
                  <a:solidFill>
                    <a:schemeClr val="tx1"/>
                  </a:solidFill>
                </a:rPr>
                <a:t>: int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Customer_Id</a:t>
              </a:r>
              <a:r>
                <a:rPr lang="en-US" sz="1200" dirty="0">
                  <a:solidFill>
                    <a:schemeClr val="tx1"/>
                  </a:solidFill>
                </a:rPr>
                <a:t> (FK) : int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Time_stamp</a:t>
              </a:r>
              <a:r>
                <a:rPr lang="en-US" sz="1200" dirty="0">
                  <a:solidFill>
                    <a:schemeClr val="tx1"/>
                  </a:solidFill>
                </a:rPr>
                <a:t> : datetime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Interaction_Type</a:t>
              </a:r>
              <a:r>
                <a:rPr lang="en-US" sz="1200" dirty="0">
                  <a:solidFill>
                    <a:schemeClr val="tx1"/>
                  </a:solidFill>
                </a:rPr>
                <a:t> : </a:t>
              </a:r>
              <a:r>
                <a:rPr lang="en-US" sz="1200" dirty="0" err="1">
                  <a:solidFill>
                    <a:schemeClr val="tx1"/>
                  </a:solidFill>
                </a:rPr>
                <a:t>enum</a:t>
              </a:r>
              <a:r>
                <a:rPr lang="en-US" sz="1200" dirty="0">
                  <a:solidFill>
                    <a:schemeClr val="tx1"/>
                  </a:solidFill>
                </a:rPr>
                <a:t> (Email, Call, Video)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Content : blob or text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Agent_Name</a:t>
              </a:r>
              <a:r>
                <a:rPr lang="en-US" sz="1200" dirty="0">
                  <a:solidFill>
                    <a:schemeClr val="tx1"/>
                  </a:solidFill>
                </a:rPr>
                <a:t> : string</a:t>
              </a: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IL" sz="1200" dirty="0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3B73819-6878-A8B8-4C70-D07043689515}"/>
              </a:ext>
            </a:extLst>
          </p:cNvPr>
          <p:cNvSpPr/>
          <p:nvPr/>
        </p:nvSpPr>
        <p:spPr>
          <a:xfrm>
            <a:off x="4700171" y="76200"/>
            <a:ext cx="3385068" cy="4666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 Data Model</a:t>
            </a:r>
            <a:endParaRPr lang="en-IL" dirty="0">
              <a:solidFill>
                <a:schemeClr val="tx1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90742B1-9892-781E-AF1F-0EACB6D51FCF}"/>
              </a:ext>
            </a:extLst>
          </p:cNvPr>
          <p:cNvGrpSpPr/>
          <p:nvPr/>
        </p:nvGrpSpPr>
        <p:grpSpPr>
          <a:xfrm>
            <a:off x="6630373" y="2677651"/>
            <a:ext cx="2159332" cy="1523245"/>
            <a:chOff x="2037029" y="1176953"/>
            <a:chExt cx="2136619" cy="391109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03CEC6D-8BB3-EB42-66B4-5B86922E86E2}"/>
                </a:ext>
              </a:extLst>
            </p:cNvPr>
            <p:cNvSpPr/>
            <p:nvPr/>
          </p:nvSpPr>
          <p:spPr>
            <a:xfrm>
              <a:off x="2037030" y="1176953"/>
              <a:ext cx="2136618" cy="883338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Customer_Service_Plan</a:t>
              </a:r>
              <a:endParaRPr lang="en-IL" sz="1200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5DE8009-D83E-2F38-8CCB-15229D10E4E5}"/>
                </a:ext>
              </a:extLst>
            </p:cNvPr>
            <p:cNvSpPr/>
            <p:nvPr/>
          </p:nvSpPr>
          <p:spPr>
            <a:xfrm>
              <a:off x="2037029" y="2075491"/>
              <a:ext cx="2136618" cy="301255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b="1" dirty="0" err="1">
                  <a:solidFill>
                    <a:schemeClr val="tx1"/>
                  </a:solidFill>
                </a:rPr>
                <a:t>Plan_Id</a:t>
              </a:r>
              <a:r>
                <a:rPr lang="en-US" sz="1200" b="1" dirty="0">
                  <a:solidFill>
                    <a:schemeClr val="tx1"/>
                  </a:solidFill>
                </a:rPr>
                <a:t> </a:t>
              </a:r>
              <a:r>
                <a:rPr lang="en-US" sz="1200" dirty="0">
                  <a:solidFill>
                    <a:schemeClr val="tx1"/>
                  </a:solidFill>
                </a:rPr>
                <a:t>: int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Customer_Id</a:t>
              </a:r>
              <a:r>
                <a:rPr lang="en-US" sz="1200" dirty="0">
                  <a:solidFill>
                    <a:schemeClr val="tx1"/>
                  </a:solidFill>
                </a:rPr>
                <a:t> (FK): int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Plan_Type</a:t>
              </a:r>
              <a:r>
                <a:rPr lang="en-US" sz="1200" dirty="0">
                  <a:solidFill>
                    <a:schemeClr val="tx1"/>
                  </a:solidFill>
                </a:rPr>
                <a:t> : string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Start_Date</a:t>
              </a:r>
              <a:r>
                <a:rPr lang="en-US" sz="1200" dirty="0">
                  <a:solidFill>
                    <a:schemeClr val="tx1"/>
                  </a:solidFill>
                </a:rPr>
                <a:t> : date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End_Date</a:t>
              </a:r>
              <a:r>
                <a:rPr lang="en-US" sz="1200" dirty="0">
                  <a:solidFill>
                    <a:schemeClr val="tx1"/>
                  </a:solidFill>
                </a:rPr>
                <a:t> : date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Is_Active</a:t>
              </a:r>
              <a:r>
                <a:rPr lang="en-US" sz="1200" dirty="0">
                  <a:solidFill>
                    <a:schemeClr val="tx1"/>
                  </a:solidFill>
                </a:rPr>
                <a:t> : bool</a:t>
              </a: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IL" sz="120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1D7B052-76E8-0E0D-F737-971B7FE07F70}"/>
              </a:ext>
            </a:extLst>
          </p:cNvPr>
          <p:cNvGrpSpPr/>
          <p:nvPr/>
        </p:nvGrpSpPr>
        <p:grpSpPr>
          <a:xfrm>
            <a:off x="3907667" y="1505300"/>
            <a:ext cx="1658039" cy="1518442"/>
            <a:chOff x="2037029" y="1176950"/>
            <a:chExt cx="2136619" cy="3911097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8412B46-237A-A21E-D171-E26D2148984E}"/>
                </a:ext>
              </a:extLst>
            </p:cNvPr>
            <p:cNvSpPr/>
            <p:nvPr/>
          </p:nvSpPr>
          <p:spPr>
            <a:xfrm>
              <a:off x="2037030" y="1176950"/>
              <a:ext cx="2136618" cy="743255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Contact_Person</a:t>
              </a:r>
              <a:endParaRPr lang="en-IL" sz="120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FB5B781-3455-0600-714B-2E7531BC9210}"/>
                </a:ext>
              </a:extLst>
            </p:cNvPr>
            <p:cNvSpPr/>
            <p:nvPr/>
          </p:nvSpPr>
          <p:spPr>
            <a:xfrm>
              <a:off x="2037029" y="1920205"/>
              <a:ext cx="2136618" cy="31678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b="1" dirty="0" err="1">
                  <a:solidFill>
                    <a:schemeClr val="tx1"/>
                  </a:solidFill>
                </a:rPr>
                <a:t>Contact_Id</a:t>
              </a:r>
              <a:r>
                <a:rPr lang="en-US" sz="1200" dirty="0">
                  <a:solidFill>
                    <a:schemeClr val="tx1"/>
                  </a:solidFill>
                </a:rPr>
                <a:t> : int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Customer_Id</a:t>
              </a:r>
              <a:r>
                <a:rPr lang="en-US" sz="1200" dirty="0">
                  <a:solidFill>
                    <a:schemeClr val="tx1"/>
                  </a:solidFill>
                </a:rPr>
                <a:t> (FK) : int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Name : string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Role : string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Email : string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Phone : string</a:t>
              </a: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IL" sz="1200" dirty="0"/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20952B7-9942-88FF-0FFF-78F6391286BC}"/>
              </a:ext>
            </a:extLst>
          </p:cNvPr>
          <p:cNvCxnSpPr>
            <a:cxnSpLocks/>
          </p:cNvCxnSpPr>
          <p:nvPr/>
        </p:nvCxnSpPr>
        <p:spPr>
          <a:xfrm flipV="1">
            <a:off x="2977290" y="1941563"/>
            <a:ext cx="930377" cy="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BECCA5B6-A9CC-51DE-7918-9CCEA9E64B43}"/>
              </a:ext>
            </a:extLst>
          </p:cNvPr>
          <p:cNvGrpSpPr/>
          <p:nvPr/>
        </p:nvGrpSpPr>
        <p:grpSpPr>
          <a:xfrm>
            <a:off x="565879" y="3495872"/>
            <a:ext cx="1675349" cy="1285248"/>
            <a:chOff x="2029809" y="1176950"/>
            <a:chExt cx="2136619" cy="3911097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62C1A2C-DA48-2406-D16B-8DD52758A495}"/>
                </a:ext>
              </a:extLst>
            </p:cNvPr>
            <p:cNvSpPr/>
            <p:nvPr/>
          </p:nvSpPr>
          <p:spPr>
            <a:xfrm>
              <a:off x="2029809" y="1176950"/>
              <a:ext cx="2136619" cy="7677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Customer_Contract</a:t>
              </a:r>
              <a:endParaRPr lang="en-IL" sz="1200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C299739-D251-2EC0-FDA9-7F2332DA3EAF}"/>
                </a:ext>
              </a:extLst>
            </p:cNvPr>
            <p:cNvSpPr/>
            <p:nvPr/>
          </p:nvSpPr>
          <p:spPr>
            <a:xfrm>
              <a:off x="2029810" y="1944679"/>
              <a:ext cx="2136618" cy="31433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b="1" dirty="0" err="1">
                  <a:solidFill>
                    <a:schemeClr val="tx1"/>
                  </a:solidFill>
                </a:rPr>
                <a:t>Contract_Id</a:t>
              </a:r>
              <a:r>
                <a:rPr lang="en-US" sz="1200" dirty="0">
                  <a:solidFill>
                    <a:schemeClr val="tx1"/>
                  </a:solidFill>
                </a:rPr>
                <a:t> : int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Customer_Id</a:t>
              </a:r>
              <a:r>
                <a:rPr lang="en-US" sz="1200" dirty="0">
                  <a:solidFill>
                    <a:schemeClr val="tx1"/>
                  </a:solidFill>
                </a:rPr>
                <a:t> (FK) : int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Start_Date</a:t>
              </a:r>
              <a:r>
                <a:rPr lang="en-US" sz="1200" dirty="0">
                  <a:solidFill>
                    <a:schemeClr val="tx1"/>
                  </a:solidFill>
                </a:rPr>
                <a:t> : date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End_Date</a:t>
              </a:r>
              <a:r>
                <a:rPr lang="en-US" sz="1200" dirty="0">
                  <a:solidFill>
                    <a:schemeClr val="tx1"/>
                  </a:solidFill>
                </a:rPr>
                <a:t> : date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Contract_Doc</a:t>
              </a:r>
              <a:r>
                <a:rPr lang="en-US" sz="1200" dirty="0">
                  <a:solidFill>
                    <a:schemeClr val="tx1"/>
                  </a:solidFill>
                </a:rPr>
                <a:t> : blob</a:t>
              </a: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IL" sz="1200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0BDCEBE-F4F8-160A-E72F-6DB159E96801}"/>
              </a:ext>
            </a:extLst>
          </p:cNvPr>
          <p:cNvGrpSpPr/>
          <p:nvPr/>
        </p:nvGrpSpPr>
        <p:grpSpPr>
          <a:xfrm>
            <a:off x="3817875" y="3473226"/>
            <a:ext cx="2278125" cy="1285248"/>
            <a:chOff x="2029809" y="1176950"/>
            <a:chExt cx="2136619" cy="3911097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3B89702A-36E3-CBAC-8FF2-6C5DD7500E63}"/>
                </a:ext>
              </a:extLst>
            </p:cNvPr>
            <p:cNvSpPr/>
            <p:nvPr/>
          </p:nvSpPr>
          <p:spPr>
            <a:xfrm>
              <a:off x="2029809" y="1176950"/>
              <a:ext cx="2136619" cy="7677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Customer_Tag</a:t>
              </a:r>
              <a:endParaRPr lang="en-IL" sz="1200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8FCFFBC8-FD00-4635-3706-BDDF73EDBC79}"/>
                </a:ext>
              </a:extLst>
            </p:cNvPr>
            <p:cNvSpPr/>
            <p:nvPr/>
          </p:nvSpPr>
          <p:spPr>
            <a:xfrm>
              <a:off x="2029810" y="1944679"/>
              <a:ext cx="2136618" cy="314336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b="1" dirty="0" err="1">
                  <a:solidFill>
                    <a:schemeClr val="tx1"/>
                  </a:solidFill>
                </a:rPr>
                <a:t>Tag_Id</a:t>
              </a:r>
              <a:r>
                <a:rPr lang="en-US" sz="1200" dirty="0">
                  <a:solidFill>
                    <a:schemeClr val="tx1"/>
                  </a:solidFill>
                </a:rPr>
                <a:t> : int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Customer_Id</a:t>
              </a:r>
              <a:r>
                <a:rPr lang="en-US" sz="1200" dirty="0">
                  <a:solidFill>
                    <a:schemeClr val="tx1"/>
                  </a:solidFill>
                </a:rPr>
                <a:t> (FK) : int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Tag : </a:t>
              </a:r>
              <a:r>
                <a:rPr lang="en-US" sz="1200" dirty="0" err="1">
                  <a:solidFill>
                    <a:schemeClr val="tx1"/>
                  </a:solidFill>
                </a:rPr>
                <a:t>enum</a:t>
              </a:r>
              <a:r>
                <a:rPr lang="en-US" sz="1200" dirty="0">
                  <a:solidFill>
                    <a:schemeClr val="tx1"/>
                  </a:solidFill>
                </a:rPr>
                <a:t> (VIP, Lead, Inactive)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End_Date</a:t>
              </a:r>
              <a:r>
                <a:rPr lang="en-US" sz="1200" dirty="0">
                  <a:solidFill>
                    <a:schemeClr val="tx1"/>
                  </a:solidFill>
                </a:rPr>
                <a:t> : date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Contract_Doc</a:t>
              </a:r>
              <a:r>
                <a:rPr lang="en-US" sz="1200" dirty="0">
                  <a:solidFill>
                    <a:schemeClr val="tx1"/>
                  </a:solidFill>
                </a:rPr>
                <a:t> : blob</a:t>
              </a: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IL" sz="1200" dirty="0"/>
            </a:p>
          </p:txBody>
        </p: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081F8ADC-6F34-4803-6B6E-BF9661A50A2F}"/>
              </a:ext>
            </a:extLst>
          </p:cNvPr>
          <p:cNvSpPr/>
          <p:nvPr/>
        </p:nvSpPr>
        <p:spPr>
          <a:xfrm>
            <a:off x="3336421" y="1719636"/>
            <a:ext cx="712858" cy="280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1:N</a:t>
            </a:r>
            <a:endParaRPr lang="en-IL" sz="1000" dirty="0">
              <a:solidFill>
                <a:schemeClr val="tx1"/>
              </a:solidFill>
            </a:endParaRPr>
          </a:p>
        </p:txBody>
      </p: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231AABEA-7EDD-24D1-24A7-BE8BEEC3FEEC}"/>
              </a:ext>
            </a:extLst>
          </p:cNvPr>
          <p:cNvCxnSpPr>
            <a:stCxn id="3" idx="2"/>
          </p:cNvCxnSpPr>
          <p:nvPr/>
        </p:nvCxnSpPr>
        <p:spPr>
          <a:xfrm rot="16200000" flipH="1">
            <a:off x="3861812" y="426701"/>
            <a:ext cx="517615" cy="501950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ABFBBEB2-9A22-5076-88BA-D10EE92D0A8D}"/>
              </a:ext>
            </a:extLst>
          </p:cNvPr>
          <p:cNvSpPr/>
          <p:nvPr/>
        </p:nvSpPr>
        <p:spPr>
          <a:xfrm>
            <a:off x="6037579" y="2966448"/>
            <a:ext cx="712858" cy="280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1:N</a:t>
            </a:r>
            <a:endParaRPr lang="en-IL" sz="1000" dirty="0">
              <a:solidFill>
                <a:schemeClr val="tx1"/>
              </a:solidFill>
            </a:endParaRPr>
          </a:p>
        </p:txBody>
      </p: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A94E7552-23CB-1A2F-5567-58B524B51C88}"/>
              </a:ext>
            </a:extLst>
          </p:cNvPr>
          <p:cNvCxnSpPr>
            <a:endCxn id="72" idx="1"/>
          </p:cNvCxnSpPr>
          <p:nvPr/>
        </p:nvCxnSpPr>
        <p:spPr>
          <a:xfrm rot="16200000" flipH="1">
            <a:off x="-388338" y="3310422"/>
            <a:ext cx="1586994" cy="32144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906F21DF-A34F-ECBC-01FA-AFB646C2D9CF}"/>
              </a:ext>
            </a:extLst>
          </p:cNvPr>
          <p:cNvSpPr/>
          <p:nvPr/>
        </p:nvSpPr>
        <p:spPr>
          <a:xfrm>
            <a:off x="68281" y="4045235"/>
            <a:ext cx="712858" cy="280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1:N</a:t>
            </a:r>
            <a:endParaRPr lang="en-IL" sz="1000" dirty="0">
              <a:solidFill>
                <a:schemeClr val="tx1"/>
              </a:solidFill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91DF9DA-8DFF-E672-2CDA-56B48BFD401F}"/>
              </a:ext>
            </a:extLst>
          </p:cNvPr>
          <p:cNvCxnSpPr/>
          <p:nvPr/>
        </p:nvCxnSpPr>
        <p:spPr>
          <a:xfrm>
            <a:off x="2650733" y="2677646"/>
            <a:ext cx="0" cy="23698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122E6B32-C59E-788B-F98C-848CB32BEE34}"/>
              </a:ext>
            </a:extLst>
          </p:cNvPr>
          <p:cNvSpPr/>
          <p:nvPr/>
        </p:nvSpPr>
        <p:spPr>
          <a:xfrm>
            <a:off x="2441623" y="4784975"/>
            <a:ext cx="712858" cy="280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1:N</a:t>
            </a:r>
            <a:endParaRPr lang="en-IL" sz="1000" dirty="0">
              <a:solidFill>
                <a:schemeClr val="tx1"/>
              </a:solidFill>
            </a:endParaRPr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AC340C8E-2C8B-61D2-5684-2372C6A2FD70}"/>
              </a:ext>
            </a:extLst>
          </p:cNvPr>
          <p:cNvCxnSpPr>
            <a:endCxn id="80" idx="1"/>
          </p:cNvCxnSpPr>
          <p:nvPr/>
        </p:nvCxnSpPr>
        <p:spPr>
          <a:xfrm rot="16200000" flipH="1">
            <a:off x="2615409" y="3039527"/>
            <a:ext cx="1564348" cy="84058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41844FFE-3EA4-3E9F-D87C-428E2F3236B5}"/>
              </a:ext>
            </a:extLst>
          </p:cNvPr>
          <p:cNvSpPr/>
          <p:nvPr/>
        </p:nvSpPr>
        <p:spPr>
          <a:xfrm>
            <a:off x="3263557" y="4024683"/>
            <a:ext cx="712858" cy="280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1:N</a:t>
            </a:r>
            <a:endParaRPr lang="en-IL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02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0315B-977F-53A3-A176-4DBE858BE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388EE8C-03BB-2855-EA9E-24240F1CA08E}"/>
              </a:ext>
            </a:extLst>
          </p:cNvPr>
          <p:cNvGrpSpPr/>
          <p:nvPr/>
        </p:nvGrpSpPr>
        <p:grpSpPr>
          <a:xfrm>
            <a:off x="950614" y="876860"/>
            <a:ext cx="2031057" cy="1217532"/>
            <a:chOff x="2037028" y="1176951"/>
            <a:chExt cx="3108185" cy="225204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E274EA6-9412-5A4A-0059-BF214D4EF3AB}"/>
                </a:ext>
              </a:extLst>
            </p:cNvPr>
            <p:cNvSpPr/>
            <p:nvPr/>
          </p:nvSpPr>
          <p:spPr>
            <a:xfrm>
              <a:off x="2037029" y="1176951"/>
              <a:ext cx="3108183" cy="367079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User</a:t>
              </a:r>
              <a:endParaRPr lang="en-IL" sz="1200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CE5B30F-F7B8-C9E2-0918-D79F11D0F812}"/>
                </a:ext>
              </a:extLst>
            </p:cNvPr>
            <p:cNvSpPr/>
            <p:nvPr/>
          </p:nvSpPr>
          <p:spPr>
            <a:xfrm>
              <a:off x="2037028" y="1548759"/>
              <a:ext cx="3108185" cy="188023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b="1" dirty="0" err="1">
                  <a:solidFill>
                    <a:schemeClr val="tx1"/>
                  </a:solidFill>
                </a:rPr>
                <a:t>User_Id</a:t>
              </a:r>
              <a:r>
                <a:rPr lang="en-US" sz="1200" b="1" dirty="0">
                  <a:solidFill>
                    <a:schemeClr val="tx1"/>
                  </a:solidFill>
                </a:rPr>
                <a:t> </a:t>
              </a:r>
              <a:r>
                <a:rPr lang="en-US" sz="1200" dirty="0">
                  <a:solidFill>
                    <a:schemeClr val="tx1"/>
                  </a:solidFill>
                </a:rPr>
                <a:t>: </a:t>
              </a:r>
              <a:r>
                <a:rPr lang="en-US" sz="1200" dirty="0" err="1">
                  <a:solidFill>
                    <a:schemeClr val="tx1"/>
                  </a:solidFill>
                </a:rPr>
                <a:t>Guid</a:t>
              </a:r>
              <a:r>
                <a:rPr lang="en-US" sz="1200" dirty="0">
                  <a:solidFill>
                    <a:schemeClr val="tx1"/>
                  </a:solidFill>
                </a:rPr>
                <a:t> (PK)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Name : string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Email : string</a:t>
              </a:r>
            </a:p>
            <a:p>
              <a:r>
                <a:rPr lang="en-US" sz="1200" dirty="0">
                  <a:solidFill>
                    <a:schemeClr val="tx1"/>
                  </a:solidFill>
                </a:rPr>
                <a:t>Password : </a:t>
              </a:r>
              <a:r>
                <a:rPr lang="en-US" sz="1200" dirty="0" err="1">
                  <a:solidFill>
                    <a:schemeClr val="tx1"/>
                  </a:solidFill>
                </a:rPr>
                <a:t>Password_Hash</a:t>
              </a:r>
              <a:endParaRPr lang="en-US" sz="1200" dirty="0">
                <a:solidFill>
                  <a:schemeClr val="tx1"/>
                </a:solidFill>
              </a:endParaRP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Created_At</a:t>
              </a:r>
              <a:r>
                <a:rPr lang="en-US" sz="1200" dirty="0">
                  <a:solidFill>
                    <a:schemeClr val="tx1"/>
                  </a:solidFill>
                </a:rPr>
                <a:t> : datetime</a:t>
              </a: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IL" sz="1200" dirty="0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459601A3-99ED-B43C-218A-119DF3434E31}"/>
              </a:ext>
            </a:extLst>
          </p:cNvPr>
          <p:cNvSpPr/>
          <p:nvPr/>
        </p:nvSpPr>
        <p:spPr>
          <a:xfrm>
            <a:off x="4700171" y="76200"/>
            <a:ext cx="3385068" cy="4666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User Data Model</a:t>
            </a:r>
            <a:endParaRPr lang="en-IL" dirty="0">
              <a:solidFill>
                <a:schemeClr val="tx1"/>
              </a:solidFill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5825C91-5ADB-214A-91A8-802C8048308B}"/>
              </a:ext>
            </a:extLst>
          </p:cNvPr>
          <p:cNvGrpSpPr/>
          <p:nvPr/>
        </p:nvGrpSpPr>
        <p:grpSpPr>
          <a:xfrm>
            <a:off x="3915009" y="2201940"/>
            <a:ext cx="2732853" cy="1567554"/>
            <a:chOff x="2029809" y="1176950"/>
            <a:chExt cx="2136619" cy="3410260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B0DD690-FD61-CD5A-E240-84522BE96D76}"/>
                </a:ext>
              </a:extLst>
            </p:cNvPr>
            <p:cNvSpPr/>
            <p:nvPr/>
          </p:nvSpPr>
          <p:spPr>
            <a:xfrm>
              <a:off x="2029809" y="1176950"/>
              <a:ext cx="2136619" cy="767730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User_History</a:t>
              </a:r>
              <a:endParaRPr lang="en-IL" sz="1200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958FC87-2FE8-1E33-9044-CAD0A96A1188}"/>
                </a:ext>
              </a:extLst>
            </p:cNvPr>
            <p:cNvSpPr/>
            <p:nvPr/>
          </p:nvSpPr>
          <p:spPr>
            <a:xfrm>
              <a:off x="2029810" y="1944679"/>
              <a:ext cx="2136618" cy="26425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b="1" dirty="0" err="1">
                  <a:solidFill>
                    <a:schemeClr val="tx1"/>
                  </a:solidFill>
                </a:rPr>
                <a:t>History_Id</a:t>
              </a:r>
              <a:r>
                <a:rPr lang="en-US" sz="1200" dirty="0">
                  <a:solidFill>
                    <a:schemeClr val="tx1"/>
                  </a:solidFill>
                </a:rPr>
                <a:t> : int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User_Id</a:t>
              </a:r>
              <a:r>
                <a:rPr lang="en-US" sz="1200" dirty="0">
                  <a:solidFill>
                    <a:schemeClr val="tx1"/>
                  </a:solidFill>
                </a:rPr>
                <a:t> (FK) : int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Last_Login_Date</a:t>
              </a:r>
              <a:r>
                <a:rPr lang="en-US" sz="1200" dirty="0">
                  <a:solidFill>
                    <a:schemeClr val="tx1"/>
                  </a:solidFill>
                </a:rPr>
                <a:t> : datetime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Login_IP</a:t>
              </a:r>
              <a:r>
                <a:rPr lang="en-US" sz="1200" dirty="0">
                  <a:solidFill>
                    <a:schemeClr val="tx1"/>
                  </a:solidFill>
                </a:rPr>
                <a:t> : string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Login_Device</a:t>
              </a:r>
              <a:r>
                <a:rPr lang="en-US" sz="1200" dirty="0">
                  <a:solidFill>
                    <a:schemeClr val="tx1"/>
                  </a:solidFill>
                </a:rPr>
                <a:t> : string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Login_Status</a:t>
              </a:r>
              <a:r>
                <a:rPr lang="en-US" sz="1200" dirty="0">
                  <a:solidFill>
                    <a:schemeClr val="tx1"/>
                  </a:solidFill>
                </a:rPr>
                <a:t> : </a:t>
              </a:r>
              <a:r>
                <a:rPr lang="en-US" sz="1200" dirty="0" err="1">
                  <a:solidFill>
                    <a:schemeClr val="tx1"/>
                  </a:solidFill>
                </a:rPr>
                <a:t>enum</a:t>
              </a:r>
              <a:r>
                <a:rPr lang="en-US" sz="1200" dirty="0">
                  <a:solidFill>
                    <a:schemeClr val="tx1"/>
                  </a:solidFill>
                </a:rPr>
                <a:t> (Success, Failure)</a:t>
              </a:r>
            </a:p>
            <a:p>
              <a:endParaRPr lang="en-IL" sz="1200" dirty="0"/>
            </a:p>
          </p:txBody>
        </p:sp>
      </p:grpSp>
      <p:sp>
        <p:nvSpPr>
          <p:cNvPr id="89" name="Rectangle 88">
            <a:extLst>
              <a:ext uri="{FF2B5EF4-FFF2-40B4-BE49-F238E27FC236}">
                <a16:creationId xmlns:a16="http://schemas.microsoft.com/office/drawing/2014/main" id="{627045B2-93A6-09AC-5F94-A49DBC3D9084}"/>
              </a:ext>
            </a:extLst>
          </p:cNvPr>
          <p:cNvSpPr/>
          <p:nvPr/>
        </p:nvSpPr>
        <p:spPr>
          <a:xfrm>
            <a:off x="3447923" y="2881391"/>
            <a:ext cx="391107" cy="280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1:N</a:t>
            </a:r>
            <a:endParaRPr lang="en-IL" sz="1000" dirty="0">
              <a:solidFill>
                <a:schemeClr val="tx1"/>
              </a:solidFill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42FF7E0B-4CCA-3C60-C4C6-9A6F35BC89B0}"/>
              </a:ext>
            </a:extLst>
          </p:cNvPr>
          <p:cNvCxnSpPr>
            <a:cxnSpLocks/>
            <a:stCxn id="3" idx="2"/>
            <a:endCxn id="72" idx="1"/>
          </p:cNvCxnSpPr>
          <p:nvPr/>
        </p:nvCxnSpPr>
        <p:spPr>
          <a:xfrm rot="16200000" flipH="1">
            <a:off x="2406690" y="1653844"/>
            <a:ext cx="1067772" cy="194886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8B2C072-BA52-75BE-C978-7F367426DBF5}"/>
              </a:ext>
            </a:extLst>
          </p:cNvPr>
          <p:cNvGrpSpPr/>
          <p:nvPr/>
        </p:nvGrpSpPr>
        <p:grpSpPr>
          <a:xfrm>
            <a:off x="3915009" y="1180507"/>
            <a:ext cx="3773801" cy="915347"/>
            <a:chOff x="2037028" y="1176951"/>
            <a:chExt cx="3108185" cy="225204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367DFCA-8375-FD2D-26A5-D7CD84615DA6}"/>
                </a:ext>
              </a:extLst>
            </p:cNvPr>
            <p:cNvSpPr/>
            <p:nvPr/>
          </p:nvSpPr>
          <p:spPr>
            <a:xfrm>
              <a:off x="2037029" y="1176951"/>
              <a:ext cx="3108183" cy="766975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User_Roles</a:t>
              </a:r>
              <a:endParaRPr lang="en-IL" sz="12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0980417-C13A-3807-0F84-31D7977CDB74}"/>
                </a:ext>
              </a:extLst>
            </p:cNvPr>
            <p:cNvSpPr/>
            <p:nvPr/>
          </p:nvSpPr>
          <p:spPr>
            <a:xfrm>
              <a:off x="2037028" y="1943926"/>
              <a:ext cx="3108185" cy="148507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b="1" dirty="0" err="1">
                  <a:solidFill>
                    <a:schemeClr val="tx1"/>
                  </a:solidFill>
                </a:rPr>
                <a:t>Role_Id</a:t>
              </a:r>
              <a:r>
                <a:rPr lang="en-US" sz="1200" b="1" dirty="0">
                  <a:solidFill>
                    <a:schemeClr val="tx1"/>
                  </a:solidFill>
                </a:rPr>
                <a:t> </a:t>
              </a:r>
              <a:r>
                <a:rPr lang="en-US" sz="1200" dirty="0">
                  <a:solidFill>
                    <a:schemeClr val="tx1"/>
                  </a:solidFill>
                </a:rPr>
                <a:t>: </a:t>
              </a:r>
              <a:r>
                <a:rPr lang="en-US" sz="1200" dirty="0" err="1">
                  <a:solidFill>
                    <a:schemeClr val="tx1"/>
                  </a:solidFill>
                </a:rPr>
                <a:t>Guid</a:t>
              </a:r>
              <a:r>
                <a:rPr lang="en-US" sz="1200" dirty="0">
                  <a:solidFill>
                    <a:schemeClr val="tx1"/>
                  </a:solidFill>
                </a:rPr>
                <a:t> (PK)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RoleName</a:t>
              </a:r>
              <a:r>
                <a:rPr lang="en-US" sz="1200" dirty="0">
                  <a:solidFill>
                    <a:schemeClr val="tx1"/>
                  </a:solidFill>
                </a:rPr>
                <a:t> : </a:t>
              </a:r>
              <a:r>
                <a:rPr lang="en-US" sz="1200" dirty="0" err="1">
                  <a:solidFill>
                    <a:schemeClr val="tx1"/>
                  </a:solidFill>
                </a:rPr>
                <a:t>enum</a:t>
              </a:r>
              <a:r>
                <a:rPr lang="en-US" sz="1200" dirty="0">
                  <a:solidFill>
                    <a:schemeClr val="tx1"/>
                  </a:solidFill>
                </a:rPr>
                <a:t> (User = 0, Admin = 1, </a:t>
              </a:r>
              <a:r>
                <a:rPr lang="en-US" sz="1200" dirty="0" err="1">
                  <a:solidFill>
                    <a:schemeClr val="tx1"/>
                  </a:solidFill>
                </a:rPr>
                <a:t>SuperUser</a:t>
              </a:r>
              <a:r>
                <a:rPr lang="en-US" sz="1200" dirty="0">
                  <a:solidFill>
                    <a:schemeClr val="tx1"/>
                  </a:solidFill>
                </a:rPr>
                <a:t> = 2)</a:t>
              </a: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289895D-2133-ACD1-DA4A-DBBAB3C96FF5}"/>
              </a:ext>
            </a:extLst>
          </p:cNvPr>
          <p:cNvGrpSpPr/>
          <p:nvPr/>
        </p:nvGrpSpPr>
        <p:grpSpPr>
          <a:xfrm>
            <a:off x="7676068" y="2821669"/>
            <a:ext cx="3477808" cy="1319062"/>
            <a:chOff x="2037028" y="1176951"/>
            <a:chExt cx="3108185" cy="203061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CFEFFC7-8569-10C3-8550-73CA9ECCE27C}"/>
                </a:ext>
              </a:extLst>
            </p:cNvPr>
            <p:cNvSpPr/>
            <p:nvPr/>
          </p:nvSpPr>
          <p:spPr>
            <a:xfrm>
              <a:off x="2037029" y="1176951"/>
              <a:ext cx="3108183" cy="505085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/>
                <a:t>User_Action_Type</a:t>
              </a:r>
              <a:endParaRPr lang="en-IL" sz="1200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739C2CC-28EC-1E3E-F1B5-8C8203C1617C}"/>
                </a:ext>
              </a:extLst>
            </p:cNvPr>
            <p:cNvSpPr/>
            <p:nvPr/>
          </p:nvSpPr>
          <p:spPr>
            <a:xfrm>
              <a:off x="2037028" y="1682036"/>
              <a:ext cx="3108185" cy="15255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200" b="1" dirty="0" err="1">
                  <a:solidFill>
                    <a:schemeClr val="tx1"/>
                  </a:solidFill>
                </a:rPr>
                <a:t>Action_Id</a:t>
              </a:r>
              <a:r>
                <a:rPr lang="en-US" sz="1200" b="1" dirty="0">
                  <a:solidFill>
                    <a:schemeClr val="tx1"/>
                  </a:solidFill>
                </a:rPr>
                <a:t> </a:t>
              </a:r>
              <a:r>
                <a:rPr lang="en-US" sz="1200" dirty="0">
                  <a:solidFill>
                    <a:schemeClr val="tx1"/>
                  </a:solidFill>
                </a:rPr>
                <a:t>: int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User_Id</a:t>
              </a:r>
              <a:r>
                <a:rPr lang="en-US" sz="1200" dirty="0">
                  <a:solidFill>
                    <a:schemeClr val="tx1"/>
                  </a:solidFill>
                </a:rPr>
                <a:t> (FK) : int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Action_Type</a:t>
              </a:r>
              <a:r>
                <a:rPr lang="en-US" sz="1200" dirty="0">
                  <a:solidFill>
                    <a:schemeClr val="tx1"/>
                  </a:solidFill>
                </a:rPr>
                <a:t> : </a:t>
              </a:r>
              <a:r>
                <a:rPr lang="en-US" sz="1200" dirty="0" err="1">
                  <a:solidFill>
                    <a:schemeClr val="tx1"/>
                  </a:solidFill>
                </a:rPr>
                <a:t>enum</a:t>
              </a:r>
              <a:r>
                <a:rPr lang="en-US" sz="1200" dirty="0">
                  <a:solidFill>
                    <a:schemeClr val="tx1"/>
                  </a:solidFill>
                </a:rPr>
                <a:t> (Login, Update, Maintenance)</a:t>
              </a:r>
            </a:p>
            <a:p>
              <a:r>
                <a:rPr lang="en-US" sz="1200" dirty="0" err="1">
                  <a:solidFill>
                    <a:schemeClr val="tx1"/>
                  </a:solidFill>
                </a:rPr>
                <a:t>Time_Stamp</a:t>
              </a:r>
              <a:r>
                <a:rPr lang="en-US" sz="1200" dirty="0">
                  <a:solidFill>
                    <a:schemeClr val="tx1"/>
                  </a:solidFill>
                </a:rPr>
                <a:t> : datetime</a:t>
              </a: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US" sz="1200" dirty="0">
                <a:solidFill>
                  <a:schemeClr val="tx1"/>
                </a:solidFill>
              </a:endParaRPr>
            </a:p>
            <a:p>
              <a:endParaRPr lang="en-IL" sz="1200" dirty="0"/>
            </a:p>
          </p:txBody>
        </p: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7A80F61-BCF6-C798-3F07-5C6AE73CB2F5}"/>
              </a:ext>
            </a:extLst>
          </p:cNvPr>
          <p:cNvCxnSpPr>
            <a:cxnSpLocks/>
          </p:cNvCxnSpPr>
          <p:nvPr/>
        </p:nvCxnSpPr>
        <p:spPr>
          <a:xfrm flipV="1">
            <a:off x="2981670" y="1722787"/>
            <a:ext cx="930377" cy="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049D720-5E23-9ECB-0085-9B8DB5FBEB86}"/>
              </a:ext>
            </a:extLst>
          </p:cNvPr>
          <p:cNvSpPr/>
          <p:nvPr/>
        </p:nvSpPr>
        <p:spPr>
          <a:xfrm>
            <a:off x="3447951" y="1442013"/>
            <a:ext cx="458005" cy="280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1:N</a:t>
            </a:r>
            <a:endParaRPr lang="en-IL" sz="10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EC6AC8-2264-2579-F9A2-C0806CFDBCBF}"/>
              </a:ext>
            </a:extLst>
          </p:cNvPr>
          <p:cNvCxnSpPr>
            <a:cxnSpLocks/>
          </p:cNvCxnSpPr>
          <p:nvPr/>
        </p:nvCxnSpPr>
        <p:spPr>
          <a:xfrm flipV="1">
            <a:off x="6746419" y="3559135"/>
            <a:ext cx="930377" cy="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4435BEA-6437-E00D-577F-23D7D5718537}"/>
              </a:ext>
            </a:extLst>
          </p:cNvPr>
          <p:cNvSpPr/>
          <p:nvPr/>
        </p:nvSpPr>
        <p:spPr>
          <a:xfrm>
            <a:off x="7230806" y="3278361"/>
            <a:ext cx="458005" cy="280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1:N</a:t>
            </a:r>
            <a:endParaRPr lang="en-IL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392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13">
            <a:extLst>
              <a:ext uri="{FF2B5EF4-FFF2-40B4-BE49-F238E27FC236}">
                <a16:creationId xmlns:a16="http://schemas.microsoft.com/office/drawing/2014/main" id="{78FF15C6-2884-A197-AD86-D46D737FF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34" y="701263"/>
            <a:ext cx="1315653" cy="295343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I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A2C</a:t>
            </a:r>
            <a:endParaRPr kumimoji="0" lang="en-IL" altLang="en-I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C09A88-5F98-C840-2E68-5720BEC0681D}"/>
              </a:ext>
            </a:extLst>
          </p:cNvPr>
          <p:cNvSpPr/>
          <p:nvPr/>
        </p:nvSpPr>
        <p:spPr>
          <a:xfrm>
            <a:off x="2478179" y="117618"/>
            <a:ext cx="3385068" cy="4666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Folders Structure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4" name="AutoShape 13">
            <a:extLst>
              <a:ext uri="{FF2B5EF4-FFF2-40B4-BE49-F238E27FC236}">
                <a16:creationId xmlns:a16="http://schemas.microsoft.com/office/drawing/2014/main" id="{417BBC80-527E-A9B3-A84D-141B4841D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8448" y="1842973"/>
            <a:ext cx="832104" cy="3051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I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Server</a:t>
            </a:r>
            <a:endParaRPr kumimoji="0" lang="en-IL" altLang="en-I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EFA49FBE-0BEA-95E9-179B-C50C986B9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0160" y="1100440"/>
            <a:ext cx="761080" cy="3051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I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Client</a:t>
            </a:r>
            <a:endParaRPr kumimoji="0" lang="en-IL" altLang="en-I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13">
            <a:extLst>
              <a:ext uri="{FF2B5EF4-FFF2-40B4-BE49-F238E27FC236}">
                <a16:creationId xmlns:a16="http://schemas.microsoft.com/office/drawing/2014/main" id="{0A62B873-9219-6D42-FED9-1EFD25F68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3208" y="6338772"/>
            <a:ext cx="1675482" cy="359441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IL" dirty="0"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Documentation</a:t>
            </a:r>
            <a:endParaRPr lang="en-IL" altLang="en-IL" dirty="0">
              <a:latin typeface="Calibri" panose="020F0502020204030204" pitchFamily="34" charset="0"/>
              <a:ea typeface="Yu Gothic" panose="020B0400000000000000" pitchFamily="34" charset="-128"/>
              <a:cs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E11C29-6CF2-2E2F-E747-35691FFFFBC2}"/>
              </a:ext>
            </a:extLst>
          </p:cNvPr>
          <p:cNvCxnSpPr>
            <a:cxnSpLocks/>
          </p:cNvCxnSpPr>
          <p:nvPr/>
        </p:nvCxnSpPr>
        <p:spPr>
          <a:xfrm>
            <a:off x="634066" y="996606"/>
            <a:ext cx="0" cy="55003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E575987-DD26-185B-E83A-9C5F84B0A4A3}"/>
              </a:ext>
            </a:extLst>
          </p:cNvPr>
          <p:cNvCxnSpPr>
            <a:cxnSpLocks/>
          </p:cNvCxnSpPr>
          <p:nvPr/>
        </p:nvCxnSpPr>
        <p:spPr>
          <a:xfrm>
            <a:off x="634066" y="1280160"/>
            <a:ext cx="646094" cy="97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BA3F4B-DFBF-9FDB-CC15-5D15E7301C4E}"/>
              </a:ext>
            </a:extLst>
          </p:cNvPr>
          <p:cNvCxnSpPr>
            <a:cxnSpLocks/>
          </p:cNvCxnSpPr>
          <p:nvPr/>
        </p:nvCxnSpPr>
        <p:spPr>
          <a:xfrm>
            <a:off x="640162" y="2008632"/>
            <a:ext cx="6582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3E70F1E-D267-7CAE-D953-D335D1601B47}"/>
              </a:ext>
            </a:extLst>
          </p:cNvPr>
          <p:cNvCxnSpPr>
            <a:cxnSpLocks/>
          </p:cNvCxnSpPr>
          <p:nvPr/>
        </p:nvCxnSpPr>
        <p:spPr>
          <a:xfrm>
            <a:off x="624922" y="6496933"/>
            <a:ext cx="6582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AutoShape 13">
            <a:extLst>
              <a:ext uri="{FF2B5EF4-FFF2-40B4-BE49-F238E27FC236}">
                <a16:creationId xmlns:a16="http://schemas.microsoft.com/office/drawing/2014/main" id="{7B32EEA7-56D5-EB16-EF79-1E4E9A955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397" y="2419045"/>
            <a:ext cx="1495356" cy="3594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IL" dirty="0"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A2C.CRM.Api</a:t>
            </a:r>
            <a:endParaRPr kumimoji="0" lang="en-IL" altLang="en-I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890FA60-DB45-EE3E-82FB-D028DB10995B}"/>
              </a:ext>
            </a:extLst>
          </p:cNvPr>
          <p:cNvCxnSpPr>
            <a:cxnSpLocks/>
          </p:cNvCxnSpPr>
          <p:nvPr/>
        </p:nvCxnSpPr>
        <p:spPr>
          <a:xfrm>
            <a:off x="1702914" y="2598764"/>
            <a:ext cx="5324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1B0946D-8097-6B78-E2CF-708C835A14FB}"/>
              </a:ext>
            </a:extLst>
          </p:cNvPr>
          <p:cNvCxnSpPr>
            <a:cxnSpLocks/>
          </p:cNvCxnSpPr>
          <p:nvPr/>
        </p:nvCxnSpPr>
        <p:spPr>
          <a:xfrm>
            <a:off x="1702914" y="2156693"/>
            <a:ext cx="0" cy="4420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11EEA41-506E-A630-D972-503CEA2836BB}"/>
              </a:ext>
            </a:extLst>
          </p:cNvPr>
          <p:cNvCxnSpPr>
            <a:cxnSpLocks/>
          </p:cNvCxnSpPr>
          <p:nvPr/>
        </p:nvCxnSpPr>
        <p:spPr>
          <a:xfrm>
            <a:off x="3005091" y="2778485"/>
            <a:ext cx="0" cy="23709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utoShape 13">
            <a:extLst>
              <a:ext uri="{FF2B5EF4-FFF2-40B4-BE49-F238E27FC236}">
                <a16:creationId xmlns:a16="http://schemas.microsoft.com/office/drawing/2014/main" id="{CCF9E2EC-1E7B-DB39-289C-77C8A1C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1920" y="2875013"/>
            <a:ext cx="1360853" cy="34367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I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Controllers</a:t>
            </a:r>
            <a:endParaRPr kumimoji="0" lang="en-IL" altLang="en-I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A71ECA9-6020-2668-0F61-288DC1B9B85A}"/>
              </a:ext>
            </a:extLst>
          </p:cNvPr>
          <p:cNvCxnSpPr>
            <a:cxnSpLocks/>
          </p:cNvCxnSpPr>
          <p:nvPr/>
        </p:nvCxnSpPr>
        <p:spPr>
          <a:xfrm>
            <a:off x="3005091" y="3052916"/>
            <a:ext cx="9268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AutoShape 13">
            <a:extLst>
              <a:ext uri="{FF2B5EF4-FFF2-40B4-BE49-F238E27FC236}">
                <a16:creationId xmlns:a16="http://schemas.microsoft.com/office/drawing/2014/main" id="{8F8E0109-A987-3884-2AAF-A55E71AC3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1920" y="3293553"/>
            <a:ext cx="1360853" cy="34367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I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Data</a:t>
            </a:r>
            <a:endParaRPr kumimoji="0" lang="en-IL" altLang="en-I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73FF06F-D158-D932-7EE8-5D76C7893249}"/>
              </a:ext>
            </a:extLst>
          </p:cNvPr>
          <p:cNvCxnSpPr>
            <a:cxnSpLocks/>
          </p:cNvCxnSpPr>
          <p:nvPr/>
        </p:nvCxnSpPr>
        <p:spPr>
          <a:xfrm>
            <a:off x="3005091" y="3471456"/>
            <a:ext cx="9268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AutoShape 13">
            <a:extLst>
              <a:ext uri="{FF2B5EF4-FFF2-40B4-BE49-F238E27FC236}">
                <a16:creationId xmlns:a16="http://schemas.microsoft.com/office/drawing/2014/main" id="{2A734496-13E5-C552-4657-6D89DA0A2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1920" y="3712731"/>
            <a:ext cx="1360853" cy="34367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I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DTOs</a:t>
            </a:r>
            <a:endParaRPr kumimoji="0" lang="en-IL" altLang="en-I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C6E8A8C-157D-F611-36B4-A162546C1B01}"/>
              </a:ext>
            </a:extLst>
          </p:cNvPr>
          <p:cNvCxnSpPr>
            <a:cxnSpLocks/>
          </p:cNvCxnSpPr>
          <p:nvPr/>
        </p:nvCxnSpPr>
        <p:spPr>
          <a:xfrm>
            <a:off x="3005091" y="3890634"/>
            <a:ext cx="9268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AutoShape 13">
            <a:extLst>
              <a:ext uri="{FF2B5EF4-FFF2-40B4-BE49-F238E27FC236}">
                <a16:creationId xmlns:a16="http://schemas.microsoft.com/office/drawing/2014/main" id="{5933977B-1DB3-63B2-5784-1EEAD9086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7160" y="4133837"/>
            <a:ext cx="1360853" cy="34367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I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Migrations</a:t>
            </a:r>
            <a:endParaRPr kumimoji="0" lang="en-IL" altLang="en-I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981965D-7B11-335C-EF5A-F7521F817921}"/>
              </a:ext>
            </a:extLst>
          </p:cNvPr>
          <p:cNvCxnSpPr>
            <a:cxnSpLocks/>
          </p:cNvCxnSpPr>
          <p:nvPr/>
        </p:nvCxnSpPr>
        <p:spPr>
          <a:xfrm>
            <a:off x="3020331" y="4311740"/>
            <a:ext cx="9268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AutoShape 13">
            <a:extLst>
              <a:ext uri="{FF2B5EF4-FFF2-40B4-BE49-F238E27FC236}">
                <a16:creationId xmlns:a16="http://schemas.microsoft.com/office/drawing/2014/main" id="{E9F760B8-FB4B-4A4B-BABE-2BF40D33C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7160" y="4552377"/>
            <a:ext cx="1360853" cy="34367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I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Models</a:t>
            </a:r>
            <a:endParaRPr kumimoji="0" lang="en-IL" altLang="en-I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AutoShape 13">
            <a:extLst>
              <a:ext uri="{FF2B5EF4-FFF2-40B4-BE49-F238E27FC236}">
                <a16:creationId xmlns:a16="http://schemas.microsoft.com/office/drawing/2014/main" id="{42836964-E83A-B3D7-BB20-15372CAA0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7160" y="4971555"/>
            <a:ext cx="1360853" cy="343674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I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Properties</a:t>
            </a:r>
            <a:endParaRPr kumimoji="0" lang="en-IL" altLang="en-I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B9F25E6-DF5D-3A72-F754-0F0447644D2F}"/>
              </a:ext>
            </a:extLst>
          </p:cNvPr>
          <p:cNvCxnSpPr>
            <a:cxnSpLocks/>
          </p:cNvCxnSpPr>
          <p:nvPr/>
        </p:nvCxnSpPr>
        <p:spPr>
          <a:xfrm>
            <a:off x="3020331" y="5149458"/>
            <a:ext cx="9268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0FF5E8C-87F0-8001-0491-F0E429B85F20}"/>
              </a:ext>
            </a:extLst>
          </p:cNvPr>
          <p:cNvCxnSpPr>
            <a:cxnSpLocks/>
          </p:cNvCxnSpPr>
          <p:nvPr/>
        </p:nvCxnSpPr>
        <p:spPr>
          <a:xfrm>
            <a:off x="3020331" y="4719690"/>
            <a:ext cx="9268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AutoShape 13">
            <a:extLst>
              <a:ext uri="{FF2B5EF4-FFF2-40B4-BE49-F238E27FC236}">
                <a16:creationId xmlns:a16="http://schemas.microsoft.com/office/drawing/2014/main" id="{F799A10B-14C1-1B55-ACA7-1DABE0E79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6449" y="5132300"/>
            <a:ext cx="832104" cy="30511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I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Tests</a:t>
            </a:r>
            <a:endParaRPr kumimoji="0" lang="en-IL" altLang="en-I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C6BD2AB-A3B0-1F79-EF23-6F6E19FF3C4A}"/>
              </a:ext>
            </a:extLst>
          </p:cNvPr>
          <p:cNvCxnSpPr>
            <a:cxnSpLocks/>
          </p:cNvCxnSpPr>
          <p:nvPr/>
        </p:nvCxnSpPr>
        <p:spPr>
          <a:xfrm>
            <a:off x="628163" y="5279671"/>
            <a:ext cx="6582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utoShape 13">
            <a:extLst>
              <a:ext uri="{FF2B5EF4-FFF2-40B4-BE49-F238E27FC236}">
                <a16:creationId xmlns:a16="http://schemas.microsoft.com/office/drawing/2014/main" id="{97672CD0-A1CE-374C-68C7-143497BCC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9974" y="5708372"/>
            <a:ext cx="2001130" cy="3594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2700">
            <a:solidFill>
              <a:srgbClr val="09101D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IL" dirty="0">
                <a:latin typeface="Calibri" panose="020F0502020204030204" pitchFamily="34" charset="0"/>
                <a:ea typeface="Yu Gothic" panose="020B0400000000000000" pitchFamily="34" charset="-128"/>
                <a:cs typeface="Arial" panose="020B0604020202020204" pitchFamily="34" charset="0"/>
              </a:rPr>
              <a:t>A2C.CRM.Api.Tests</a:t>
            </a:r>
            <a:endParaRPr kumimoji="0" lang="en-IL" altLang="en-I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2CC8B0A-5F34-9281-C371-A4FFFC090347}"/>
              </a:ext>
            </a:extLst>
          </p:cNvPr>
          <p:cNvCxnSpPr>
            <a:cxnSpLocks/>
          </p:cNvCxnSpPr>
          <p:nvPr/>
        </p:nvCxnSpPr>
        <p:spPr>
          <a:xfrm>
            <a:off x="1718347" y="5446020"/>
            <a:ext cx="0" cy="4420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FF1663-547C-007D-0394-80FCA5C623AA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702914" y="5888091"/>
            <a:ext cx="55706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800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oftware flow&#10;&#10;AI-generated content may be incorrect.">
            <a:extLst>
              <a:ext uri="{FF2B5EF4-FFF2-40B4-BE49-F238E27FC236}">
                <a16:creationId xmlns:a16="http://schemas.microsoft.com/office/drawing/2014/main" id="{4B6F9169-4CBB-3BB9-0B7F-49A764C82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914" y="1225291"/>
            <a:ext cx="5852172" cy="440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0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14788</TotalTime>
  <Words>800</Words>
  <Application>Microsoft Office PowerPoint</Application>
  <PresentationFormat>Widescreen</PresentationFormat>
  <Paragraphs>199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 Unicode MS</vt:lpstr>
      <vt:lpstr>Aptos</vt:lpstr>
      <vt:lpstr>Aptos Display</vt:lpstr>
      <vt:lpstr>Arial</vt:lpstr>
      <vt:lpstr>Calibri</vt:lpstr>
      <vt:lpstr>Office Theme</vt:lpstr>
      <vt:lpstr>A2C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 Iluz</dc:creator>
  <cp:lastModifiedBy>GIl Iluz</cp:lastModifiedBy>
  <cp:revision>77</cp:revision>
  <dcterms:created xsi:type="dcterms:W3CDTF">2025-07-15T16:26:55Z</dcterms:created>
  <dcterms:modified xsi:type="dcterms:W3CDTF">2025-08-16T06:37:05Z</dcterms:modified>
</cp:coreProperties>
</file>